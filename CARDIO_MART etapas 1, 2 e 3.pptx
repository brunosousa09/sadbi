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3" r:id="rId13"/>
    <p:sldId id="294" r:id="rId14"/>
    <p:sldId id="295" r:id="rId15"/>
    <p:sldId id="267" r:id="rId16"/>
    <p:sldId id="268" r:id="rId17"/>
    <p:sldId id="296" r:id="rId18"/>
    <p:sldId id="297" r:id="rId19"/>
    <p:sldId id="298" r:id="rId20"/>
    <p:sldId id="299" r:id="rId21"/>
    <p:sldId id="300" r:id="rId22"/>
    <p:sldId id="269" r:id="rId23"/>
    <p:sldId id="270" r:id="rId24"/>
    <p:sldId id="290" r:id="rId25"/>
    <p:sldId id="291" r:id="rId26"/>
    <p:sldId id="292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3256A-D6CC-4B5C-A1A0-6AFA29162F00}" v="28" dt="2025-12-01T11:43:39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1af41aa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1af41aa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a86bc37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a86bc37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1af41aa6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1af41aa6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1af41aa6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1af41aa6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1af41aa6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1af41aa6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1af41aa6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1af41aa6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3a86bc37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3a86bc37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13559e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413559e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3a86bc37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3a86bc37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1af41aa6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1af41aa6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3a86bc37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3a86bc37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5E66AF2-A329-711B-43D4-43164B92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3a86bc37c_0_15:notes">
            <a:extLst>
              <a:ext uri="{FF2B5EF4-FFF2-40B4-BE49-F238E27FC236}">
                <a16:creationId xmlns:a16="http://schemas.microsoft.com/office/drawing/2014/main" id="{D485B3BF-EF8D-6C65-FF73-D53028CE3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3a86bc37c_0_15:notes">
            <a:extLst>
              <a:ext uri="{FF2B5EF4-FFF2-40B4-BE49-F238E27FC236}">
                <a16:creationId xmlns:a16="http://schemas.microsoft.com/office/drawing/2014/main" id="{C3B97861-57AE-7976-1FE7-BF6A370F7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33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32BFBC6-FC4B-6702-73DB-98AEBBA6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3a86bc37c_0_15:notes">
            <a:extLst>
              <a:ext uri="{FF2B5EF4-FFF2-40B4-BE49-F238E27FC236}">
                <a16:creationId xmlns:a16="http://schemas.microsoft.com/office/drawing/2014/main" id="{DB1145EF-E9F6-705F-32BC-83937C328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3a86bc37c_0_15:notes">
            <a:extLst>
              <a:ext uri="{FF2B5EF4-FFF2-40B4-BE49-F238E27FC236}">
                <a16:creationId xmlns:a16="http://schemas.microsoft.com/office/drawing/2014/main" id="{03478374-7377-E1A4-06D0-8B9139D0F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076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80BA949-8045-B8FB-BFFF-A8758A37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3a86bc37c_0_15:notes">
            <a:extLst>
              <a:ext uri="{FF2B5EF4-FFF2-40B4-BE49-F238E27FC236}">
                <a16:creationId xmlns:a16="http://schemas.microsoft.com/office/drawing/2014/main" id="{557B7913-3E42-746F-E565-301C96544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3a86bc37c_0_15:notes">
            <a:extLst>
              <a:ext uri="{FF2B5EF4-FFF2-40B4-BE49-F238E27FC236}">
                <a16:creationId xmlns:a16="http://schemas.microsoft.com/office/drawing/2014/main" id="{D7B2DA1C-46DA-1639-7C9E-83B99F121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638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3a86bc3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3a86bc3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EF67A98A-E5C0-8CEB-EAEB-264B165C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>
            <a:extLst>
              <a:ext uri="{FF2B5EF4-FFF2-40B4-BE49-F238E27FC236}">
                <a16:creationId xmlns:a16="http://schemas.microsoft.com/office/drawing/2014/main" id="{E68A87A6-0C63-3B8C-2251-E5D4A3977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>
            <a:extLst>
              <a:ext uri="{FF2B5EF4-FFF2-40B4-BE49-F238E27FC236}">
                <a16:creationId xmlns:a16="http://schemas.microsoft.com/office/drawing/2014/main" id="{B6FE9ABD-F573-4709-02EC-3813A2A8F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135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B613C602-DE91-6DCC-F3FD-1BCF9456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>
            <a:extLst>
              <a:ext uri="{FF2B5EF4-FFF2-40B4-BE49-F238E27FC236}">
                <a16:creationId xmlns:a16="http://schemas.microsoft.com/office/drawing/2014/main" id="{59FD6D8E-D679-7E0E-3A1A-74A386C8F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>
            <a:extLst>
              <a:ext uri="{FF2B5EF4-FFF2-40B4-BE49-F238E27FC236}">
                <a16:creationId xmlns:a16="http://schemas.microsoft.com/office/drawing/2014/main" id="{BEBFD348-7B03-5942-4C88-C3805C247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433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95BFC00F-6D62-63BF-61A1-9F505477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>
            <a:extLst>
              <a:ext uri="{FF2B5EF4-FFF2-40B4-BE49-F238E27FC236}">
                <a16:creationId xmlns:a16="http://schemas.microsoft.com/office/drawing/2014/main" id="{4117CB4B-A181-1CB1-3968-3556344B5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>
            <a:extLst>
              <a:ext uri="{FF2B5EF4-FFF2-40B4-BE49-F238E27FC236}">
                <a16:creationId xmlns:a16="http://schemas.microsoft.com/office/drawing/2014/main" id="{4AE04FF4-4F2A-DC3C-2086-9007F8525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441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186E0B3F-194D-B1EF-F143-DD2075C7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>
            <a:extLst>
              <a:ext uri="{FF2B5EF4-FFF2-40B4-BE49-F238E27FC236}">
                <a16:creationId xmlns:a16="http://schemas.microsoft.com/office/drawing/2014/main" id="{A3D4A7C1-0F5A-A23A-476B-7CF816327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>
            <a:extLst>
              <a:ext uri="{FF2B5EF4-FFF2-40B4-BE49-F238E27FC236}">
                <a16:creationId xmlns:a16="http://schemas.microsoft.com/office/drawing/2014/main" id="{14CFD67D-1588-A531-3155-96E05CEAB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7888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223F775E-AD5A-F455-514B-03400BEB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1af41aa62_0_36:notes">
            <a:extLst>
              <a:ext uri="{FF2B5EF4-FFF2-40B4-BE49-F238E27FC236}">
                <a16:creationId xmlns:a16="http://schemas.microsoft.com/office/drawing/2014/main" id="{24ED4514-5101-CCE5-85BC-F760461D9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1af41aa62_0_36:notes">
            <a:extLst>
              <a:ext uri="{FF2B5EF4-FFF2-40B4-BE49-F238E27FC236}">
                <a16:creationId xmlns:a16="http://schemas.microsoft.com/office/drawing/2014/main" id="{E9B2E159-2590-664A-149B-D38CE911F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947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1af41aa6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1af41aa62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673c12d7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673c12d7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6E0CF260-3EF0-C593-534E-0938FACD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673c12d75_0_1:notes">
            <a:extLst>
              <a:ext uri="{FF2B5EF4-FFF2-40B4-BE49-F238E27FC236}">
                <a16:creationId xmlns:a16="http://schemas.microsoft.com/office/drawing/2014/main" id="{7E40A1AC-A6FB-38FA-C5D6-83690FF8D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673c12d75_0_1:notes">
            <a:extLst>
              <a:ext uri="{FF2B5EF4-FFF2-40B4-BE49-F238E27FC236}">
                <a16:creationId xmlns:a16="http://schemas.microsoft.com/office/drawing/2014/main" id="{AB648FF9-F07B-154B-D418-934359B9A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534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98F41809-90C3-A76F-4D28-406B0C40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673c12d75_0_1:notes">
            <a:extLst>
              <a:ext uri="{FF2B5EF4-FFF2-40B4-BE49-F238E27FC236}">
                <a16:creationId xmlns:a16="http://schemas.microsoft.com/office/drawing/2014/main" id="{CC92154C-36D3-7675-6D3C-56A43D102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673c12d75_0_1:notes">
            <a:extLst>
              <a:ext uri="{FF2B5EF4-FFF2-40B4-BE49-F238E27FC236}">
                <a16:creationId xmlns:a16="http://schemas.microsoft.com/office/drawing/2014/main" id="{F17DF07D-03D1-353E-293D-96FBC3995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8163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7BCA141-2D98-19EB-8118-08577BFE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673c12d75_0_1:notes">
            <a:extLst>
              <a:ext uri="{FF2B5EF4-FFF2-40B4-BE49-F238E27FC236}">
                <a16:creationId xmlns:a16="http://schemas.microsoft.com/office/drawing/2014/main" id="{7DE94178-AA3B-BCD8-FB09-4F3800647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673c12d75_0_1:notes">
            <a:extLst>
              <a:ext uri="{FF2B5EF4-FFF2-40B4-BE49-F238E27FC236}">
                <a16:creationId xmlns:a16="http://schemas.microsoft.com/office/drawing/2014/main" id="{3AEF7837-3B5A-63FB-2ADD-0BFD84E2F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6682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673c12d7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673c12d7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673c12d7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673c12d7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673c12d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673c12d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673c12d7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673c12d7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d9584ba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d9584ba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9d9584ba2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9d9584ba2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d9584ba2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d9584ba2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d9584ba2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d9584ba2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d9584ba2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d9584ba2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d9584ba2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d9584ba2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d9584ba2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d9584ba2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d9584ba2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d9584ba2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d9584ba2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d9584ba2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9d1ad0ecf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9d1ad0ecf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d1ad0ecf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d1ad0ecf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d1ad0ec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d1ad0ec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1af41aa62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1af41aa62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93a86bc37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93a86bc37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3a86bc37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3a86bc37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antonio@ufrpe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brunosousa09/sadBI" TargetMode="External"/><Relationship Id="rId5" Type="http://schemas.openxmlformats.org/officeDocument/2006/relationships/hyperlink" Target="mailto:iagofelipe128@gmail.com" TargetMode="External"/><Relationship Id="rId4" Type="http://schemas.openxmlformats.org/officeDocument/2006/relationships/hyperlink" Target="mailto:maria.eduardaalves@ufrpe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vs.aids.gov.br/daent/centrais-de-conteudos/paineis-de-monitoramento/mortalidade/cid10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6660/abc.20240079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vs.aids.gov.br/daent/centrais-de-conteudos/paineis-de-monitoramento/mortalidade/cid10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33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/>
              <a:t>Cárdio_Mart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4100" y="20828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pt-BR" sz="2000" dirty="0"/>
              <a:t>Bruno Antônio de Sousa Costa – </a:t>
            </a:r>
            <a:r>
              <a:rPr lang="pt-BR" sz="2000" dirty="0">
                <a:hlinkClick r:id="rId3"/>
              </a:rPr>
              <a:t>bruno.antonio@ufrpe.br</a:t>
            </a:r>
            <a:endParaRPr lang="pt-BR" dirty="0"/>
          </a:p>
          <a:p>
            <a:pPr marL="0" indent="0" algn="just"/>
            <a:r>
              <a:rPr lang="pt-BR" sz="2000" dirty="0"/>
              <a:t>Maria Eduarda Alves do Nascimento – </a:t>
            </a:r>
            <a:r>
              <a:rPr lang="pt-BR" sz="2000" dirty="0">
                <a:hlinkClick r:id="rId4"/>
              </a:rPr>
              <a:t>maria.eduardaalves@ufrpe.br</a:t>
            </a:r>
            <a:r>
              <a:rPr lang="pt-BR" sz="2000" dirty="0"/>
              <a:t> </a:t>
            </a:r>
          </a:p>
          <a:p>
            <a:pPr marL="0" indent="0" algn="just"/>
            <a:r>
              <a:rPr lang="pt-BR" sz="2000" dirty="0"/>
              <a:t>Iago Felipe Freire Nascimento – </a:t>
            </a:r>
            <a:r>
              <a:rPr lang="pt-BR" sz="2000" dirty="0">
                <a:hlinkClick r:id="rId5"/>
              </a:rPr>
              <a:t>iagofelipe128@gmail.com</a:t>
            </a:r>
            <a:r>
              <a:rPr lang="pt-BR" sz="2000" dirty="0"/>
              <a:t> 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64100" y="3626725"/>
            <a:ext cx="8520600" cy="15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Fonte dos Dados: https://svs.aids.gov.br/daent/centrais-de-conteudos/paineis-de-monitoramento/mortalidade/cid10/</a:t>
            </a:r>
          </a:p>
          <a:p>
            <a:pPr marL="0" lvl="0" indent="0"/>
            <a:r>
              <a:rPr lang="pt-BR" sz="1800" dirty="0"/>
              <a:t>Aplicação OLAP: &lt; </a:t>
            </a:r>
            <a:r>
              <a:rPr lang="pt-BR" sz="1800" dirty="0">
                <a:hlinkClick r:id="rId6"/>
              </a:rPr>
              <a:t>https://github.com/brunosousa09/</a:t>
            </a:r>
            <a:r>
              <a:rPr lang="pt-BR" sz="1800" dirty="0" err="1">
                <a:hlinkClick r:id="rId6"/>
              </a:rPr>
              <a:t>sadBI</a:t>
            </a:r>
            <a:r>
              <a:rPr lang="pt-BR" sz="1800" dirty="0"/>
              <a:t>&gt;</a:t>
            </a:r>
            <a:endParaRPr sz="1800" dirty="0"/>
          </a:p>
          <a:p>
            <a:pPr marL="0" lvl="0" indent="0"/>
            <a:r>
              <a:rPr lang="pt-BR" sz="1800" dirty="0"/>
              <a:t>Github: &lt; </a:t>
            </a:r>
            <a:r>
              <a:rPr lang="pt-BR" sz="1800" dirty="0">
                <a:hlinkClick r:id="rId6"/>
              </a:rPr>
              <a:t>https://github.com/brunosousa09/</a:t>
            </a:r>
            <a:r>
              <a:rPr lang="pt-BR" sz="1800" dirty="0" err="1">
                <a:hlinkClick r:id="rId6"/>
              </a:rPr>
              <a:t>sadBI</a:t>
            </a:r>
            <a:r>
              <a:rPr lang="pt-BR" sz="1800" dirty="0"/>
              <a:t>&gt; </a:t>
            </a:r>
            <a:r>
              <a:rPr lang="pt-BR" sz="1800" dirty="0">
                <a:solidFill>
                  <a:srgbClr val="FF0000"/>
                </a:solidFill>
              </a:rPr>
              <a:t>incluir modelos, plano de carga, apresentação, aplicação OLAP</a:t>
            </a:r>
            <a:endParaRPr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1 - PLANEJAMENTO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pt-BR"/>
              <a:t>Contextualização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pt-BR"/>
              <a:t>Este documento apresenta a modelagem dimensional de um Data Mart desenvolvido para a análise de dados de mortalidade por Infarto Agudo do Miocárdio e Acidente Vascular Cerebral (AVC) no Brasil. O objetivo é fornecer uma estrutura de dados otimizada que apoie a geração de relatórios, dashboards e análises aprofundadas, facilitando a tomada de decisões estratégicas na área da Saúde Pública.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2"/>
            </a:pPr>
            <a:r>
              <a:rPr lang="pt-BR"/>
              <a:t>Escopo/objetivo do Data Mart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pt-BR"/>
              <a:t>O foco deste projeto é a área de Saúde Pública e Vigilância Epidemiológica. O objetivo é analisar a mortalidade por Infarto Agudo do Miocárdio e AVC para apoiar o planeamento de políticas públicas e a alocação de recursos em saúde.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pt-BR"/>
              <a:t>Arquitetura Tecnológica</a:t>
            </a:r>
            <a:endParaRPr/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42875A90-B0D0-7EEC-4D22-0D286F53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8" t="20418" r="3483" b="29672"/>
          <a:stretch>
            <a:fillRect/>
          </a:stretch>
        </p:blipFill>
        <p:spPr>
          <a:xfrm>
            <a:off x="96156" y="1424943"/>
            <a:ext cx="8959309" cy="2802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Processo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>
              <a:lnSpc>
                <a:spcPct val="114999"/>
              </a:lnSpc>
              <a:spcBef>
                <a:spcPts val="1600"/>
              </a:spcBef>
              <a:buNone/>
            </a:pPr>
            <a:endParaRPr lang="pt-BR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F79BB6-3733-4F20-FACD-B201A4AE1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907209"/>
              </p:ext>
            </p:extLst>
          </p:nvPr>
        </p:nvGraphicFramePr>
        <p:xfrm>
          <a:off x="226785" y="1079500"/>
          <a:ext cx="8705623" cy="3883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854">
                  <a:extLst>
                    <a:ext uri="{9D8B030D-6E8A-4147-A177-3AD203B41FA5}">
                      <a16:colId xmlns:a16="http://schemas.microsoft.com/office/drawing/2014/main" val="2033271346"/>
                    </a:ext>
                  </a:extLst>
                </a:gridCol>
                <a:gridCol w="1927678">
                  <a:extLst>
                    <a:ext uri="{9D8B030D-6E8A-4147-A177-3AD203B41FA5}">
                      <a16:colId xmlns:a16="http://schemas.microsoft.com/office/drawing/2014/main" val="1696482252"/>
                    </a:ext>
                  </a:extLst>
                </a:gridCol>
                <a:gridCol w="4706091">
                  <a:extLst>
                    <a:ext uri="{9D8B030D-6E8A-4147-A177-3AD203B41FA5}">
                      <a16:colId xmlns:a16="http://schemas.microsoft.com/office/drawing/2014/main" val="1845923690"/>
                    </a:ext>
                  </a:extLst>
                </a:gridCol>
              </a:tblGrid>
              <a:tr h="36363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Foco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61275"/>
                  </a:ext>
                </a:extLst>
              </a:tr>
              <a:tr h="8983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Planejamento e Design</a:t>
                      </a:r>
                      <a:endParaRPr lang="pt-B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O </a:t>
                      </a:r>
                      <a:r>
                        <a:rPr lang="pt-BR" sz="1400" b="0" i="0" u="none" strike="noStrike" noProof="0" err="1">
                          <a:latin typeface="Arial"/>
                        </a:rPr>
                        <a:t>Quê</a:t>
                      </a:r>
                      <a:r>
                        <a:rPr lang="pt-BR" sz="1400" b="0" i="0" u="none" strike="noStrike" noProof="0">
                          <a:latin typeface="Arial"/>
                        </a:rPr>
                        <a:t> e Como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Definição do escopo (2019-2024), levantamento dos indicadores de negócio e modelagem dimensional, escolhendo o Star </a:t>
                      </a:r>
                      <a:r>
                        <a:rPr lang="pt-BR" sz="1400" b="0" i="0" u="none" strike="noStrike" noProof="0" err="1">
                          <a:latin typeface="Arial"/>
                        </a:rPr>
                        <a:t>Schema</a:t>
                      </a:r>
                      <a:r>
                        <a:rPr lang="pt-BR" sz="1400" b="0" i="0" u="none" strike="noStrike" noProof="0">
                          <a:latin typeface="Arial"/>
                        </a:rPr>
                        <a:t> para otimizar as consultas.</a:t>
                      </a:r>
                      <a:endParaRPr lang="pt-BR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898275"/>
                  </a:ext>
                </a:extLst>
              </a:tr>
              <a:tr h="89837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Construção da Infraestrutura</a:t>
                      </a:r>
                      <a:endParaRPr lang="pt-B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Desenvolvimento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Construção da área de preparação e desenvolvimento dos scripts de ETL (Extração, Transformação e Carga) para limpar, padronizar e agregar os dados do SIM/DATASUS.</a:t>
                      </a:r>
                      <a:endParaRPr lang="pt-BR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86443"/>
                  </a:ext>
                </a:extLst>
              </a:tr>
              <a:tr h="69517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Implantação e Testes</a:t>
                      </a:r>
                      <a:endParaRPr lang="pt-B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Validação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Carga inicial dos dados históricos no Data Mart e realização de testes rigorosos para garantir a acurácia (qualidade) dos dados e dos cálculos dos indicadores.</a:t>
                      </a:r>
                      <a:endParaRPr lang="pt-BR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605128"/>
                  </a:ext>
                </a:extLst>
              </a:tr>
              <a:tr h="89837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Apresentação e Sustentação</a:t>
                      </a:r>
                      <a:endParaRPr lang="pt-B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Entrega de Valor</a:t>
                      </a:r>
                      <a:endParaRPr lang="pt-B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b="0" i="0" u="none" strike="noStrike" noProof="0">
                          <a:latin typeface="Arial"/>
                        </a:rPr>
                        <a:t>Criação dos dashboards e relatórios nas ferramentas de BI, treinamento dos usuários e estabelecimento de rotinas de atualização e monitoramento contínuo da qualidade dos dados.</a:t>
                      </a:r>
                      <a:endParaRPr lang="pt-BR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7137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Abordagem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98011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pt-BR" err="1"/>
              <a:t>Botom-up</a:t>
            </a:r>
            <a:r>
              <a:rPr lang="pt-BR"/>
              <a:t>: A abordagem </a:t>
            </a:r>
            <a:r>
              <a:rPr lang="pt-BR" i="1" err="1"/>
              <a:t>Bottom-up</a:t>
            </a:r>
            <a:r>
              <a:rPr lang="pt-BR"/>
              <a:t> foca na construção de Data </a:t>
            </a:r>
            <a:r>
              <a:rPr lang="pt-BR" err="1"/>
              <a:t>Marts</a:t>
            </a:r>
            <a:r>
              <a:rPr lang="pt-BR"/>
              <a:t> específicos primeiro, a partir das fontes de dados, e que, futuramente, podem ser integrados em um Data Warehouse maior. Como o projeto é para um </a:t>
            </a:r>
            <a:r>
              <a:rPr lang="pt-BR" b="1"/>
              <a:t>Data Mart focado (mortalidade por doenças cardiológicas)</a:t>
            </a:r>
            <a:r>
              <a:rPr lang="pt-BR"/>
              <a:t>, essa abordagem é a mais prática, rápida e focada nas necessidades de um grupo específico de usuários (os cardiologistas e gestores de saúde).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Star </a:t>
            </a:r>
            <a:r>
              <a:rPr lang="pt-BR" err="1"/>
              <a:t>Schema:O</a:t>
            </a:r>
            <a:r>
              <a:rPr lang="pt-BR"/>
              <a:t> Star </a:t>
            </a:r>
            <a:r>
              <a:rPr lang="pt-BR" err="1"/>
              <a:t>Schema</a:t>
            </a:r>
            <a:r>
              <a:rPr lang="pt-BR"/>
              <a:t> é o modelo mais simples, eficiente para consultas e análises. Possui uma </a:t>
            </a:r>
            <a:r>
              <a:rPr lang="pt-BR" b="1"/>
              <a:t>Tabela Fato central</a:t>
            </a:r>
            <a:r>
              <a:rPr lang="pt-BR"/>
              <a:t> (Óbitos) e várias </a:t>
            </a:r>
            <a:r>
              <a:rPr lang="pt-BR" b="1"/>
              <a:t>Tabelas Dimensão</a:t>
            </a:r>
            <a:r>
              <a:rPr lang="pt-BR"/>
              <a:t> (Tempo, Local, etc.) diretamente ligadas a ela, sem normalização adicional. Isso simplifica as consultas dos usuários nas ferramentas de BI, melhora a performance de agregação e é o padrão de excelência para Data </a:t>
            </a:r>
            <a:r>
              <a:rPr lang="pt-BR" err="1"/>
              <a:t>Marts</a:t>
            </a:r>
            <a:r>
              <a:rPr lang="pt-BR"/>
              <a:t> e Data </a:t>
            </a:r>
            <a:r>
              <a:rPr lang="pt-BR" err="1"/>
              <a:t>Warehouses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5"/>
            </a:pPr>
            <a:r>
              <a:rPr lang="pt-BR"/>
              <a:t>Usuários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BR" b="1"/>
              <a:t>Gestores Públicos de Saúde: </a:t>
            </a:r>
            <a:r>
              <a:rPr lang="pt-BR"/>
              <a:t>Secretários de Saúde (Municipal, Estadual, Federal), Coordenadores de Programas de Saúde (</a:t>
            </a:r>
            <a:r>
              <a:rPr lang="pt-BR" err="1"/>
              <a:t>Ex</a:t>
            </a:r>
            <a:r>
              <a:rPr lang="pt-BR"/>
              <a:t>: Programa de Combate a DCNT).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 b="1"/>
              <a:t>Equipes de </a:t>
            </a:r>
            <a:r>
              <a:rPr lang="en-US" b="1" err="1"/>
              <a:t>Planejamento</a:t>
            </a:r>
            <a:r>
              <a:rPr lang="en-US" b="1"/>
              <a:t> e </a:t>
            </a:r>
            <a:r>
              <a:rPr lang="en-US" b="1" err="1"/>
              <a:t>Vigilância</a:t>
            </a:r>
            <a:r>
              <a:rPr lang="en-US" b="1"/>
              <a:t> </a:t>
            </a:r>
            <a:r>
              <a:rPr lang="en-US" b="1" err="1"/>
              <a:t>Epidemiológica</a:t>
            </a:r>
            <a:r>
              <a:rPr lang="en-US" b="1"/>
              <a:t>: </a:t>
            </a:r>
            <a:r>
              <a:rPr lang="en-US" err="1"/>
              <a:t>Analistas</a:t>
            </a:r>
            <a:r>
              <a:rPr lang="en-US"/>
              <a:t> de dados de </a:t>
            </a:r>
            <a:r>
              <a:rPr lang="en-US" err="1"/>
              <a:t>saúde</a:t>
            </a:r>
            <a:r>
              <a:rPr lang="en-US"/>
              <a:t>, </a:t>
            </a:r>
            <a:r>
              <a:rPr lang="en-US" err="1"/>
              <a:t>Epidemiologistas</a:t>
            </a:r>
            <a:r>
              <a:rPr lang="en-US"/>
              <a:t>.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 b="1" err="1"/>
              <a:t>Pesquisadores</a:t>
            </a:r>
            <a:r>
              <a:rPr lang="en-US" b="1"/>
              <a:t> e </a:t>
            </a:r>
            <a:r>
              <a:rPr lang="en-US" b="1" err="1"/>
              <a:t>Acadêmicos</a:t>
            </a:r>
            <a:r>
              <a:rPr lang="en-US" b="1"/>
              <a:t>: </a:t>
            </a:r>
            <a:r>
              <a:rPr lang="en-US" err="1"/>
              <a:t>Cientistas</a:t>
            </a:r>
            <a:r>
              <a:rPr lang="en-US"/>
              <a:t> de dados, </a:t>
            </a:r>
            <a:r>
              <a:rPr lang="en-US" err="1"/>
              <a:t>Professores</a:t>
            </a:r>
            <a:r>
              <a:rPr lang="en-US"/>
              <a:t> de Medicina/</a:t>
            </a:r>
            <a:r>
              <a:rPr lang="en-US" err="1"/>
              <a:t>Saúde</a:t>
            </a:r>
            <a:r>
              <a:rPr lang="en-US"/>
              <a:t> Pública.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 b="1" err="1"/>
              <a:t>Profissionais</a:t>
            </a:r>
            <a:r>
              <a:rPr lang="en-US" b="1"/>
              <a:t> de </a:t>
            </a:r>
            <a:r>
              <a:rPr lang="en-US" b="1" err="1"/>
              <a:t>Saúde</a:t>
            </a:r>
            <a:r>
              <a:rPr lang="en-US" b="1"/>
              <a:t>: </a:t>
            </a:r>
            <a:r>
              <a:rPr lang="en-US" err="1"/>
              <a:t>Cardiologistas</a:t>
            </a:r>
            <a:r>
              <a:rPr lang="en-US"/>
              <a:t>, </a:t>
            </a:r>
            <a:r>
              <a:rPr lang="en-US" err="1"/>
              <a:t>Clínicos</a:t>
            </a:r>
            <a:r>
              <a:rPr lang="en-US"/>
              <a:t> Gerais, </a:t>
            </a:r>
            <a:r>
              <a:rPr lang="en-US" err="1"/>
              <a:t>Diretores</a:t>
            </a:r>
            <a:r>
              <a:rPr lang="en-US"/>
              <a:t> </a:t>
            </a:r>
            <a:r>
              <a:rPr lang="en-US" err="1"/>
              <a:t>Hospitalares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2 - LEVANTAMENTO DAS NECESSIDADES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6"/>
            </a:pPr>
            <a:r>
              <a:rPr lang="pt-BR"/>
              <a:t>Consultas de Apoio à Decisão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pt-BR" b="1"/>
              <a:t>Alocação de Recursos/Priorização: </a:t>
            </a:r>
            <a:r>
              <a:rPr lang="pt-BR"/>
              <a:t>Ranking das regiões de saúde com as maiores Taxas de Mortalidade por 100 mil habitantes por DCV nos últimos 12 meses.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pt-BR" b="1"/>
              <a:t>Avaliação de Impacto de Programas:</a:t>
            </a:r>
            <a:r>
              <a:rPr lang="pt-BR"/>
              <a:t> Tendência histórica (2019-2024) da mortalidade por tipos específicos de DCV (Infarto, AVC) por grupo de idade e sexo.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pt-BR" b="1"/>
              <a:t>Identificação de Grupos de Risco: </a:t>
            </a:r>
            <a:r>
              <a:rPr lang="pt-BR"/>
              <a:t>Distribuição dos óbitos por Faixa Etária (</a:t>
            </a:r>
            <a:r>
              <a:rPr lang="pt-BR" err="1"/>
              <a:t>Dim</a:t>
            </a:r>
            <a:r>
              <a:rPr lang="pt-BR"/>
              <a:t> Pessoa)  e Raça/Cor, comparando o risco relativo entre os grupos.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pt-BR" b="1"/>
              <a:t>Monitoramento Rápido: </a:t>
            </a:r>
            <a:r>
              <a:rPr lang="pt-BR"/>
              <a:t>Total de óbitos por DCV no último trimestre, comparado com o mesmo trimestre do ano anterior e com a média histórica.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&lt;negócio&gt;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pt-BR" b="1"/>
              <a:t>Taxa de Mortalidade por Doenças Cardiovasculares (DCV) (Bruta e Padronizada):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/>
              <a:t>Cálculo:</a:t>
            </a:r>
            <a:r>
              <a:rPr lang="pt-BR"/>
              <a:t> (Número de Óbitos por DCV / População Total) x 100.000 hab. (A padronizada é ajustada por idade e sexo, crucial para comparações regionais e temporais).</a:t>
            </a:r>
          </a:p>
          <a:p>
            <a:pPr marL="285750" indent="-285750">
              <a:lnSpc>
                <a:spcPct val="114999"/>
              </a:lnSpc>
            </a:pPr>
            <a:r>
              <a:rPr lang="pt-BR" b="1"/>
              <a:t>Decisão:</a:t>
            </a:r>
            <a:r>
              <a:rPr lang="pt-BR"/>
              <a:t> Permite comparar o desempenho de saúde de um município/estado e definir metas de redução.</a:t>
            </a: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pt-BR"/>
          </a:p>
        </p:txBody>
      </p:sp>
      <p:sp>
        <p:nvSpPr>
          <p:cNvPr id="115" name="Google Shape;115;p23"/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/>
              <a:t>Fonte: </a:t>
            </a:r>
            <a:r>
              <a:rPr lang="pt-BR"/>
              <a:t>OLIVEIRA, Gláucia M. M. de et al.</a:t>
            </a:r>
            <a:endParaRPr lang="pt-BR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7D9CA13-1516-93B3-C45F-DABF1035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>
            <a:extLst>
              <a:ext uri="{FF2B5EF4-FFF2-40B4-BE49-F238E27FC236}">
                <a16:creationId xmlns:a16="http://schemas.microsoft.com/office/drawing/2014/main" id="{1B26A512-54B3-7E99-E019-665FE9D4E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&lt;negócio&gt;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3">
            <a:extLst>
              <a:ext uri="{FF2B5EF4-FFF2-40B4-BE49-F238E27FC236}">
                <a16:creationId xmlns:a16="http://schemas.microsoft.com/office/drawing/2014/main" id="{C0EBE459-D676-F6A8-BA0B-9E511BE58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Mortalidade Proporcional por DCV: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/>
              <a:t>Cálculo:</a:t>
            </a:r>
            <a:r>
              <a:rPr lang="pt-BR"/>
              <a:t> (Óbitos por DCV / Total de Óbitos por Todas as Causas) x100.</a:t>
            </a:r>
          </a:p>
          <a:p>
            <a:pPr marL="285750" indent="-285750">
              <a:lnSpc>
                <a:spcPct val="114999"/>
              </a:lnSpc>
            </a:pPr>
            <a:r>
              <a:rPr lang="pt-BR" b="1"/>
              <a:t>Decisão:</a:t>
            </a:r>
            <a:r>
              <a:rPr lang="pt-BR"/>
              <a:t> Indica a importância relativa das DCV como causa de morte na população, ajudando a justificar a alocação de verbas e programas de prevenção.</a:t>
            </a:r>
          </a:p>
          <a:p>
            <a:pPr marL="0" indent="0">
              <a:lnSpc>
                <a:spcPct val="114999"/>
              </a:lnSpc>
              <a:buNone/>
            </a:pPr>
            <a:endParaRPr lang="pt-BR" b="1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pt-BR"/>
          </a:p>
        </p:txBody>
      </p:sp>
      <p:sp>
        <p:nvSpPr>
          <p:cNvPr id="115" name="Google Shape;115;p23">
            <a:extLst>
              <a:ext uri="{FF2B5EF4-FFF2-40B4-BE49-F238E27FC236}">
                <a16:creationId xmlns:a16="http://schemas.microsoft.com/office/drawing/2014/main" id="{BAA50650-231C-F206-7823-6A35D09BB109}"/>
              </a:ext>
            </a:extLst>
          </p:cNvPr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/>
              <a:t>Fonte: </a:t>
            </a:r>
            <a:r>
              <a:rPr lang="pt-BR"/>
              <a:t>OLIVEIRA, Gláucia M. M. de et al.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403759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CC53D9C-6F12-CA16-60C1-04CA1C84F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>
            <a:extLst>
              <a:ext uri="{FF2B5EF4-FFF2-40B4-BE49-F238E27FC236}">
                <a16:creationId xmlns:a16="http://schemas.microsoft.com/office/drawing/2014/main" id="{E9C00EFB-39F2-4A12-3AC6-0D5E0537E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&lt;negócio&gt;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3">
            <a:extLst>
              <a:ext uri="{FF2B5EF4-FFF2-40B4-BE49-F238E27FC236}">
                <a16:creationId xmlns:a16="http://schemas.microsoft.com/office/drawing/2014/main" id="{46BEC694-3485-9E2F-17D3-CDBDD977E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Taxa de Mortalidade por DCV por Grupos Específicos (Ex: Infarto Agudo do Miocárdio - I21):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/>
              <a:t>Cálculo:</a:t>
            </a:r>
            <a:r>
              <a:rPr lang="pt-BR"/>
              <a:t> (Número de Óbitos por I21 / População Total) x 100.000 hab.</a:t>
            </a:r>
          </a:p>
          <a:p>
            <a:pPr marL="285750" indent="-285750">
              <a:lnSpc>
                <a:spcPct val="114999"/>
              </a:lnSpc>
            </a:pPr>
            <a:r>
              <a:rPr lang="pt-BR" b="1"/>
              <a:t>Decisão:</a:t>
            </a:r>
            <a:r>
              <a:rPr lang="pt-BR"/>
              <a:t> Permite monitorar o sucesso de intervenções focadas em doenças específicas e direcionar campanhas de prevenção secundária (pós-evento).</a:t>
            </a:r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 marL="0" indent="0">
              <a:lnSpc>
                <a:spcPct val="114999"/>
              </a:lnSpc>
              <a:buNone/>
            </a:pPr>
            <a:endParaRPr lang="pt-BR" b="1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pt-BR"/>
          </a:p>
        </p:txBody>
      </p:sp>
      <p:sp>
        <p:nvSpPr>
          <p:cNvPr id="115" name="Google Shape;115;p23">
            <a:extLst>
              <a:ext uri="{FF2B5EF4-FFF2-40B4-BE49-F238E27FC236}">
                <a16:creationId xmlns:a16="http://schemas.microsoft.com/office/drawing/2014/main" id="{7A86FDCE-F3E3-02B9-0A93-932A1965A75E}"/>
              </a:ext>
            </a:extLst>
          </p:cNvPr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/>
              <a:t>Fonte: </a:t>
            </a:r>
            <a:r>
              <a:rPr lang="pt-BR"/>
              <a:t>OLIVEIRA, Gláucia M. M. de et al.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533554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60AEE80-04EF-2817-6A88-973D2905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>
            <a:extLst>
              <a:ext uri="{FF2B5EF4-FFF2-40B4-BE49-F238E27FC236}">
                <a16:creationId xmlns:a16="http://schemas.microsoft.com/office/drawing/2014/main" id="{7F71ADBB-EC9C-93DB-B120-5FC4A2649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&lt;negócio&gt;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3">
            <a:extLst>
              <a:ext uri="{FF2B5EF4-FFF2-40B4-BE49-F238E27FC236}">
                <a16:creationId xmlns:a16="http://schemas.microsoft.com/office/drawing/2014/main" id="{4A4AD4EF-11FB-EF70-8664-E3EB5C95F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Óbitos em Idade Produtiva (Mortalidade Prematura):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/>
              <a:t>Cálculo:</a:t>
            </a:r>
            <a:r>
              <a:rPr lang="pt-BR"/>
              <a:t> Número de óbitos por DCV em indivíduos com menos de 70 anos (ou outra idade limite definida).</a:t>
            </a:r>
          </a:p>
          <a:p>
            <a:pPr marL="285750" indent="-285750">
              <a:lnSpc>
                <a:spcPct val="114999"/>
              </a:lnSpc>
            </a:pPr>
            <a:r>
              <a:rPr lang="pt-BR" b="1"/>
              <a:t>Decisão:</a:t>
            </a:r>
            <a:r>
              <a:rPr lang="pt-BR"/>
              <a:t> Foca em perdas econômicas e sociais, indicando a urgência de programas de promoção de saúde para a população economicamente ativa.</a:t>
            </a:r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 marL="0" indent="0">
              <a:lnSpc>
                <a:spcPct val="114999"/>
              </a:lnSpc>
              <a:buNone/>
            </a:pPr>
            <a:endParaRPr lang="pt-BR" b="1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pt-BR"/>
          </a:p>
        </p:txBody>
      </p:sp>
      <p:sp>
        <p:nvSpPr>
          <p:cNvPr id="115" name="Google Shape;115;p23">
            <a:extLst>
              <a:ext uri="{FF2B5EF4-FFF2-40B4-BE49-F238E27FC236}">
                <a16:creationId xmlns:a16="http://schemas.microsoft.com/office/drawing/2014/main" id="{6F395CF8-0C6A-6CF3-DD81-6CBA4EE428A4}"/>
              </a:ext>
            </a:extLst>
          </p:cNvPr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/>
              <a:t>Fonte: </a:t>
            </a:r>
            <a:r>
              <a:rPr lang="pt-BR"/>
              <a:t>OLIVEIRA, Gláucia M. M. de et al.</a:t>
            </a:r>
            <a:endParaRPr lang="pt-BR" b="1"/>
          </a:p>
        </p:txBody>
      </p:sp>
    </p:spTree>
    <p:extLst>
      <p:ext uri="{BB962C8B-B14F-4D97-AF65-F5344CB8AC3E}">
        <p14:creationId xmlns:p14="http://schemas.microsoft.com/office/powerpoint/2010/main" val="1104396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3 - MODELAGEM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/>
              <a:t>Principais Entidades e Atributos do Negócio</a:t>
            </a:r>
          </a:p>
          <a:p>
            <a:pPr>
              <a:lnSpc>
                <a:spcPct val="114999"/>
              </a:lnSpc>
              <a:buNone/>
            </a:pPr>
            <a:r>
              <a:rPr lang="pt-BR"/>
              <a:t>1. </a:t>
            </a:r>
            <a:r>
              <a:rPr lang="pt-BR" b="1"/>
              <a:t>Fato: </a:t>
            </a:r>
            <a:r>
              <a:rPr lang="pt-BR" b="1" err="1"/>
              <a:t>fObitos</a:t>
            </a:r>
            <a:endParaRPr lang="pt-BR" err="1"/>
          </a:p>
          <a:p>
            <a:pPr>
              <a:lnSpc>
                <a:spcPct val="114999"/>
              </a:lnSpc>
              <a:buNone/>
            </a:pPr>
            <a:r>
              <a:rPr lang="pt-BR"/>
              <a:t>Representa cada registro individual de óbito.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ID_Tempo</a:t>
            </a:r>
            <a:r>
              <a:rPr lang="pt-BR"/>
              <a:t> (PK): referência à data do óbito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ID_Local</a:t>
            </a:r>
            <a:r>
              <a:rPr lang="pt-BR"/>
              <a:t> (PK): localização do evento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ID_Causa</a:t>
            </a:r>
            <a:r>
              <a:rPr lang="pt-BR"/>
              <a:t> (PK): causa da morte segundo CID-10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ID_Pessoa</a:t>
            </a:r>
            <a:r>
              <a:rPr lang="pt-BR" b="1"/>
              <a:t> </a:t>
            </a:r>
            <a:r>
              <a:rPr lang="pt-BR"/>
              <a:t>(PK): profissional que atestou o óbito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Quantidade_Obitos</a:t>
            </a:r>
            <a:r>
              <a:rPr lang="pt-BR"/>
              <a:t>: sempre 1 por registro; soma total representa número de óbitos</a:t>
            </a: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27" name="Google Shape;127;p25"/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Link para o dicionário de dados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A9C8B2-B4AF-273D-DE3C-6B2D78AD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>
            <a:extLst>
              <a:ext uri="{FF2B5EF4-FFF2-40B4-BE49-F238E27FC236}">
                <a16:creationId xmlns:a16="http://schemas.microsoft.com/office/drawing/2014/main" id="{556FC3F3-FC85-B472-C237-D6D00C299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>
            <a:extLst>
              <a:ext uri="{FF2B5EF4-FFF2-40B4-BE49-F238E27FC236}">
                <a16:creationId xmlns:a16="http://schemas.microsoft.com/office/drawing/2014/main" id="{23DD6540-437F-5F3F-A81A-71F07F5D9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/>
              <a:t>Dimensões do Modelo</a:t>
            </a:r>
          </a:p>
          <a:p>
            <a:pPr>
              <a:lnSpc>
                <a:spcPct val="114999"/>
              </a:lnSpc>
              <a:buNone/>
            </a:pPr>
            <a:r>
              <a:rPr lang="pt-BR"/>
              <a:t>2. </a:t>
            </a:r>
            <a:r>
              <a:rPr lang="pt-BR" b="1"/>
              <a:t>Dimensão Tempo (</a:t>
            </a:r>
            <a:r>
              <a:rPr lang="pt-BR" b="1" err="1"/>
              <a:t>dTempo</a:t>
            </a:r>
            <a:r>
              <a:rPr lang="pt-BR" b="1"/>
              <a:t>)</a:t>
            </a:r>
            <a:endParaRPr lang="pt-BR"/>
          </a:p>
          <a:p>
            <a:pPr>
              <a:lnSpc>
                <a:spcPct val="114999"/>
              </a:lnSpc>
              <a:buNone/>
            </a:pPr>
            <a:r>
              <a:rPr lang="pt-BR"/>
              <a:t>Permite análises temporais detalhadas.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ID_Tempo</a:t>
            </a:r>
            <a:endParaRPr lang="pt-BR" err="1"/>
          </a:p>
          <a:p>
            <a:pPr marL="285750" indent="-285750">
              <a:lnSpc>
                <a:spcPct val="114999"/>
              </a:lnSpc>
            </a:pPr>
            <a:r>
              <a:rPr lang="pt-BR" b="1"/>
              <a:t>Dia, Mês,  Trimestre, Semestre, Ano</a:t>
            </a:r>
            <a:endParaRPr lang="pt-BR"/>
          </a:p>
          <a:p>
            <a:pPr indent="0">
              <a:lnSpc>
                <a:spcPct val="114999"/>
              </a:lnSpc>
              <a:buNone/>
            </a:pPr>
            <a:r>
              <a:rPr lang="pt-BR" b="1"/>
              <a:t>Hierarquia:</a:t>
            </a:r>
            <a:r>
              <a:rPr lang="pt-BR"/>
              <a:t> Ano → Trimestre → Mês → Dia</a:t>
            </a:r>
          </a:p>
          <a:p>
            <a:pPr>
              <a:lnSpc>
                <a:spcPct val="114999"/>
              </a:lnSpc>
              <a:buNone/>
            </a:pPr>
            <a:endParaRPr lang="pt-BR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27" name="Google Shape;127;p25">
            <a:extLst>
              <a:ext uri="{FF2B5EF4-FFF2-40B4-BE49-F238E27FC236}">
                <a16:creationId xmlns:a16="http://schemas.microsoft.com/office/drawing/2014/main" id="{4F7D8D83-D9CC-337D-3E44-53232E90B5A4}"/>
              </a:ext>
            </a:extLst>
          </p:cNvPr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Link para o dicionário de dados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1986239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4F5807E5-06E4-CD16-A76D-DA5E9549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>
            <a:extLst>
              <a:ext uri="{FF2B5EF4-FFF2-40B4-BE49-F238E27FC236}">
                <a16:creationId xmlns:a16="http://schemas.microsoft.com/office/drawing/2014/main" id="{78F32F89-BE08-9F57-3326-94E63C7EA5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>
            <a:extLst>
              <a:ext uri="{FF2B5EF4-FFF2-40B4-BE49-F238E27FC236}">
                <a16:creationId xmlns:a16="http://schemas.microsoft.com/office/drawing/2014/main" id="{1F960930-26AE-FFA1-2DD8-31A1809EB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Dimensão Localização (</a:t>
            </a:r>
            <a:r>
              <a:rPr lang="pt-BR" b="1" err="1"/>
              <a:t>dLocal</a:t>
            </a:r>
            <a:r>
              <a:rPr lang="pt-BR" b="1"/>
              <a:t>)</a:t>
            </a:r>
            <a:endParaRPr lang="pt-BR"/>
          </a:p>
          <a:p>
            <a:pPr>
              <a:lnSpc>
                <a:spcPct val="114999"/>
              </a:lnSpc>
              <a:buNone/>
            </a:pPr>
            <a:r>
              <a:rPr lang="pt-BR"/>
              <a:t>Relaciona o óbito ao local geográfico.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ID_Local</a:t>
            </a:r>
            <a:endParaRPr lang="pt-BR" err="1"/>
          </a:p>
          <a:p>
            <a:pPr marL="285750" indent="-285750">
              <a:lnSpc>
                <a:spcPct val="114999"/>
              </a:lnSpc>
            </a:pPr>
            <a:r>
              <a:rPr lang="pt-BR" b="1"/>
              <a:t>Estado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/>
              <a:t>Região</a:t>
            </a:r>
            <a:endParaRPr lang="pt-BR"/>
          </a:p>
          <a:p>
            <a:pPr indent="0">
              <a:lnSpc>
                <a:spcPct val="114999"/>
              </a:lnSpc>
              <a:buNone/>
            </a:pPr>
            <a:r>
              <a:rPr lang="pt-BR" b="1"/>
              <a:t>Hierarquia:</a:t>
            </a:r>
            <a:r>
              <a:rPr lang="pt-BR"/>
              <a:t> Região → Estado </a:t>
            </a:r>
          </a:p>
          <a:p>
            <a:pPr>
              <a:lnSpc>
                <a:spcPct val="114999"/>
              </a:lnSpc>
              <a:buNone/>
            </a:pPr>
            <a:endParaRPr lang="pt-BR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820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4CE54FBB-EB45-D6A0-15A2-F39120DB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>
            <a:extLst>
              <a:ext uri="{FF2B5EF4-FFF2-40B4-BE49-F238E27FC236}">
                <a16:creationId xmlns:a16="http://schemas.microsoft.com/office/drawing/2014/main" id="{B20C6153-7828-C7F2-75C2-5D1AB61B9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>
            <a:extLst>
              <a:ext uri="{FF2B5EF4-FFF2-40B4-BE49-F238E27FC236}">
                <a16:creationId xmlns:a16="http://schemas.microsoft.com/office/drawing/2014/main" id="{EB846350-1599-11BD-400A-C4CC60687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Dimensão Causa do Óbito (dCausa)</a:t>
            </a:r>
            <a:endParaRPr lang="pt-BR"/>
          </a:p>
          <a:p>
            <a:pPr>
              <a:lnSpc>
                <a:spcPct val="114999"/>
              </a:lnSpc>
              <a:buNone/>
            </a:pPr>
            <a:r>
              <a:rPr lang="pt-BR"/>
              <a:t>Classifica a causa segundo a CID-10.</a:t>
            </a:r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ID_Causa</a:t>
            </a:r>
            <a:endParaRPr lang="pt-BR" err="1"/>
          </a:p>
          <a:p>
            <a:pPr marL="285750" indent="-285750">
              <a:lnSpc>
                <a:spcPct val="114999"/>
              </a:lnSpc>
            </a:pPr>
            <a:r>
              <a:rPr lang="pt-BR" b="1"/>
              <a:t>Código_CID10</a:t>
            </a:r>
            <a:endParaRPr lang="pt-BR"/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Descrição_Causa</a:t>
            </a:r>
            <a:endParaRPr lang="pt-BR" err="1"/>
          </a:p>
          <a:p>
            <a:pPr marL="285750" indent="-285750">
              <a:lnSpc>
                <a:spcPct val="114999"/>
              </a:lnSpc>
            </a:pPr>
            <a:r>
              <a:rPr lang="pt-BR" b="1" err="1"/>
              <a:t>Grupo_Causa</a:t>
            </a:r>
            <a:endParaRPr lang="pt-BR" err="1"/>
          </a:p>
          <a:p>
            <a:pPr indent="0">
              <a:lnSpc>
                <a:spcPct val="114999"/>
              </a:lnSpc>
              <a:buNone/>
            </a:pPr>
            <a:r>
              <a:rPr lang="pt-BR" b="1"/>
              <a:t>Hierarquia:</a:t>
            </a:r>
            <a:r>
              <a:rPr lang="pt-BR"/>
              <a:t> </a:t>
            </a:r>
            <a:r>
              <a:rPr lang="pt-BR" err="1"/>
              <a:t>Grupo_Causa</a:t>
            </a:r>
            <a:r>
              <a:rPr lang="pt-BR"/>
              <a:t> → </a:t>
            </a:r>
            <a:r>
              <a:rPr lang="pt-BR" err="1"/>
              <a:t>Descrição_Causa</a:t>
            </a:r>
            <a:r>
              <a:rPr lang="pt-BR"/>
              <a:t> → Código_CID10</a:t>
            </a:r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>
              <a:lnSpc>
                <a:spcPct val="114999"/>
              </a:lnSpc>
              <a:buNone/>
            </a:pPr>
            <a:endParaRPr lang="pt-BR"/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267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390407-E010-5C1F-A44D-84CFE2F7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>
            <a:extLst>
              <a:ext uri="{FF2B5EF4-FFF2-40B4-BE49-F238E27FC236}">
                <a16:creationId xmlns:a16="http://schemas.microsoft.com/office/drawing/2014/main" id="{912ACFBA-6C41-5963-E10B-B0144E2D1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>
            <a:extLst>
              <a:ext uri="{FF2B5EF4-FFF2-40B4-BE49-F238E27FC236}">
                <a16:creationId xmlns:a16="http://schemas.microsoft.com/office/drawing/2014/main" id="{7395E303-1CCE-E0B5-C616-FAE6F20BC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 b="1"/>
              <a:t>Dimensão Pessoa (</a:t>
            </a:r>
            <a:r>
              <a:rPr lang="pt-BR" b="1" err="1"/>
              <a:t>dPessoa</a:t>
            </a:r>
            <a:r>
              <a:rPr lang="pt-BR" b="1"/>
              <a:t>)</a:t>
            </a:r>
          </a:p>
          <a:p>
            <a:pPr>
              <a:lnSpc>
                <a:spcPct val="114999"/>
              </a:lnSpc>
              <a:buNone/>
            </a:pPr>
            <a:r>
              <a:rPr lang="pt-BR"/>
              <a:t>Agrupa características demográficas da vítima.</a:t>
            </a:r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>
              <a:lnSpc>
                <a:spcPct val="114999"/>
              </a:lnSpc>
            </a:pPr>
            <a:r>
              <a:rPr lang="pt-BR" b="1" err="1"/>
              <a:t>ID_Pessoa</a:t>
            </a:r>
          </a:p>
          <a:p>
            <a:pPr>
              <a:lnSpc>
                <a:spcPct val="114999"/>
              </a:lnSpc>
            </a:pPr>
            <a:r>
              <a:rPr lang="pt-BR" b="1"/>
              <a:t>Faixa etária</a:t>
            </a:r>
          </a:p>
          <a:p>
            <a:pPr>
              <a:lnSpc>
                <a:spcPct val="114999"/>
              </a:lnSpc>
            </a:pPr>
            <a:r>
              <a:rPr lang="pt-BR" b="1"/>
              <a:t>Sexo</a:t>
            </a:r>
          </a:p>
          <a:p>
            <a:pPr>
              <a:lnSpc>
                <a:spcPct val="114999"/>
              </a:lnSpc>
            </a:pPr>
            <a:r>
              <a:rPr lang="pt-BR" b="1"/>
              <a:t>Raça</a:t>
            </a:r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lnSpc>
                <a:spcPct val="114999"/>
              </a:lnSpc>
              <a:buNone/>
            </a:pPr>
            <a:endParaRPr lang="pt-BR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135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038CADF0-D8E6-0062-3D24-080AA67D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>
            <a:extLst>
              <a:ext uri="{FF2B5EF4-FFF2-40B4-BE49-F238E27FC236}">
                <a16:creationId xmlns:a16="http://schemas.microsoft.com/office/drawing/2014/main" id="{F7DC1E10-6B2C-EC9D-F90F-4E948FB7F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6" name="Google Shape;126;p25">
            <a:extLst>
              <a:ext uri="{FF2B5EF4-FFF2-40B4-BE49-F238E27FC236}">
                <a16:creationId xmlns:a16="http://schemas.microsoft.com/office/drawing/2014/main" id="{94DDD4F2-936A-4E43-1D9B-C55977C51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pt-BR"/>
              <a:t>Dados Fonte</a:t>
            </a:r>
          </a:p>
          <a:p>
            <a:pPr>
              <a:lnSpc>
                <a:spcPct val="114999"/>
              </a:lnSpc>
              <a:buNone/>
            </a:pPr>
            <a:r>
              <a:rPr lang="pt-BR"/>
              <a:t>Os dados foram extraídos do Painel de Monitoramento da Mortalidade por CID-10, e incluem:</a:t>
            </a:r>
          </a:p>
          <a:p>
            <a:pPr marL="285750" indent="-285750">
              <a:lnSpc>
                <a:spcPct val="114999"/>
              </a:lnSpc>
            </a:pPr>
            <a:r>
              <a:rPr lang="pt-BR"/>
              <a:t>Arquivos CSV com registros agregados por UF, faixa etária, sexo, raça e causa</a:t>
            </a:r>
          </a:p>
          <a:p>
            <a:pPr marL="285750" indent="-285750">
              <a:lnSpc>
                <a:spcPct val="114999"/>
              </a:lnSpc>
            </a:pPr>
            <a:r>
              <a:rPr lang="pt-BR"/>
              <a:t>Classificação CID-10 oficial</a:t>
            </a:r>
          </a:p>
          <a:p>
            <a:pPr marL="285750" indent="-285750">
              <a:lnSpc>
                <a:spcPct val="114999"/>
              </a:lnSpc>
            </a:pPr>
            <a:r>
              <a:rPr lang="pt-BR"/>
              <a:t>Informações temporais (ano, mês, semana)</a:t>
            </a:r>
          </a:p>
          <a:p>
            <a:pPr marL="285750" indent="-285750">
              <a:lnSpc>
                <a:spcPct val="114999"/>
              </a:lnSpc>
            </a:pPr>
            <a:r>
              <a:rPr lang="pt-BR"/>
              <a:t>Dados demográficos e geográficos</a:t>
            </a:r>
          </a:p>
          <a:p>
            <a:pPr>
              <a:lnSpc>
                <a:spcPct val="114999"/>
              </a:lnSpc>
              <a:buNone/>
            </a:pPr>
            <a:endParaRPr lang="pt-BR" b="1"/>
          </a:p>
          <a:p>
            <a:pPr lv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  <a:p>
            <a:pPr marL="0" lvl="0" indent="0" algn="l" rtl="0">
              <a:lnSpc>
                <a:spcPct val="114999"/>
              </a:lnSpc>
              <a:buNone/>
            </a:pPr>
            <a:endParaRPr lang="pt-BR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pt-BR"/>
          </a:p>
        </p:txBody>
      </p:sp>
      <p:sp>
        <p:nvSpPr>
          <p:cNvPr id="127" name="Google Shape;127;p25">
            <a:extLst>
              <a:ext uri="{FF2B5EF4-FFF2-40B4-BE49-F238E27FC236}">
                <a16:creationId xmlns:a16="http://schemas.microsoft.com/office/drawing/2014/main" id="{AB0CBD52-D831-BD9A-9425-ED835CB4899D}"/>
              </a:ext>
            </a:extLst>
          </p:cNvPr>
          <p:cNvSpPr txBox="1"/>
          <p:nvPr/>
        </p:nvSpPr>
        <p:spPr>
          <a:xfrm>
            <a:off x="311700" y="4569154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>
                <a:hlinkClick r:id="rId3"/>
              </a:rPr>
              <a:t>Painel de Monitoramento da Mortalidade CID-10 - Mortalidade - Painéis de Monitoramento - Central de Conteúdos - DAENT - SVSA/MS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09795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AutoNum type="alphaUcPeriod"/>
            </a:pPr>
            <a:r>
              <a:rPr lang="pt-BR" sz="1600"/>
              <a:t>Área de Negócios: O foco deste projeto é a área de Saúde Pública e Vigilância Epidemiológica. O objetivo é analisar a mortalidade por Infarto Agudo do Miocárdio e AVC para apoiar o planeamento de políticas públicas e a alocação de recursos em saúde</a:t>
            </a:r>
          </a:p>
          <a:p>
            <a:pPr>
              <a:spcBef>
                <a:spcPts val="1600"/>
              </a:spcBef>
              <a:buAutoNum type="alphaUcPeriod"/>
            </a:pPr>
            <a:r>
              <a:rPr lang="pt-BR" sz="1600"/>
              <a:t>Processo: O processo modelado é a Análise de Óbitos, que envolve a recolha e consolidação de dados de declarações de óbito para identificar padrões, tendências e fatores de risco associados a estas causas de morte. </a:t>
            </a:r>
            <a:endParaRPr sz="1600"/>
          </a:p>
          <a:p>
            <a:pPr>
              <a:spcBef>
                <a:spcPts val="1600"/>
              </a:spcBef>
              <a:buAutoNum type="alphaUcPeriod"/>
            </a:pPr>
            <a:r>
              <a:rPr lang="pt-BR" sz="1600"/>
              <a:t>Granularidade: A granularidade definida para o Data Mart é o registo de cada óbito individual. Cada linha na tabela de factos representará um evento único de morte, o que permite o nível mais detalhado de análise.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Ø"/>
            </a:pPr>
            <a:r>
              <a:rPr lang="pt-BR"/>
              <a:t>Atributos e Hierarquia das Dimensões</a:t>
            </a:r>
          </a:p>
          <a:p>
            <a:pPr indent="0">
              <a:lnSpc>
                <a:spcPct val="114999"/>
              </a:lnSpc>
              <a:spcBef>
                <a:spcPts val="1600"/>
              </a:spcBef>
              <a:buNone/>
            </a:pPr>
            <a:r>
              <a:rPr lang="en-US" err="1"/>
              <a:t>Dimensão</a:t>
            </a:r>
            <a:r>
              <a:rPr lang="en-US"/>
              <a:t> Tempo (</a:t>
            </a:r>
            <a:r>
              <a:rPr lang="en-US" err="1"/>
              <a:t>dTempo</a:t>
            </a:r>
            <a:r>
              <a:rPr lang="en-US"/>
              <a:t>)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Atributos</a:t>
            </a:r>
            <a:r>
              <a:rPr lang="en-US"/>
              <a:t>: </a:t>
            </a:r>
            <a:r>
              <a:rPr lang="en-US" err="1"/>
              <a:t>ID_Tempo</a:t>
            </a:r>
            <a:r>
              <a:rPr lang="en-US"/>
              <a:t>, </a:t>
            </a:r>
            <a:r>
              <a:rPr lang="en-US" err="1"/>
              <a:t>Data_Completa</a:t>
            </a:r>
            <a:r>
              <a:rPr lang="en-US"/>
              <a:t>, Dia, </a:t>
            </a:r>
            <a:r>
              <a:rPr lang="en-US" err="1"/>
              <a:t>Mês</a:t>
            </a:r>
            <a:r>
              <a:rPr lang="en-US"/>
              <a:t>, </a:t>
            </a:r>
            <a:r>
              <a:rPr lang="en-US" err="1"/>
              <a:t>Bimestre</a:t>
            </a:r>
            <a:r>
              <a:rPr lang="en-US"/>
              <a:t>, </a:t>
            </a:r>
            <a:r>
              <a:rPr lang="en-US" err="1"/>
              <a:t>Trimestre</a:t>
            </a:r>
            <a:r>
              <a:rPr lang="en-US"/>
              <a:t>, </a:t>
            </a:r>
            <a:r>
              <a:rPr lang="en-US" err="1"/>
              <a:t>Semestre</a:t>
            </a:r>
            <a:r>
              <a:rPr lang="en-US"/>
              <a:t>, Ano. 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Hierarquia</a:t>
            </a:r>
            <a:r>
              <a:rPr lang="en-US"/>
              <a:t>: Ano → </a:t>
            </a:r>
            <a:r>
              <a:rPr lang="en-US" err="1"/>
              <a:t>Semestre</a:t>
            </a:r>
            <a:r>
              <a:rPr lang="en-US"/>
              <a:t> → </a:t>
            </a:r>
            <a:r>
              <a:rPr lang="en-US" err="1"/>
              <a:t>Trimestre</a:t>
            </a:r>
            <a:r>
              <a:rPr lang="en-US"/>
              <a:t> → </a:t>
            </a:r>
            <a:r>
              <a:rPr lang="en-US" err="1"/>
              <a:t>Mês</a:t>
            </a:r>
            <a:r>
              <a:rPr lang="en-US"/>
              <a:t> → Dia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845CE38F-937D-094F-B607-6455E734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>
            <a:extLst>
              <a:ext uri="{FF2B5EF4-FFF2-40B4-BE49-F238E27FC236}">
                <a16:creationId xmlns:a16="http://schemas.microsoft.com/office/drawing/2014/main" id="{33FA697A-BD1C-654F-4440-689DE13FE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39" name="Google Shape;139;p27">
            <a:extLst>
              <a:ext uri="{FF2B5EF4-FFF2-40B4-BE49-F238E27FC236}">
                <a16:creationId xmlns:a16="http://schemas.microsoft.com/office/drawing/2014/main" id="{B0827AF9-0C39-4592-7F8B-095703930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Ø"/>
            </a:pPr>
            <a:r>
              <a:rPr lang="pt-BR"/>
              <a:t>Atributos e Hierarquia das Dimensões</a:t>
            </a:r>
          </a:p>
          <a:p>
            <a:pPr indent="0">
              <a:lnSpc>
                <a:spcPct val="114999"/>
              </a:lnSpc>
              <a:spcBef>
                <a:spcPts val="1600"/>
              </a:spcBef>
              <a:buNone/>
            </a:pPr>
            <a:r>
              <a:rPr lang="en-US" err="1"/>
              <a:t>Dimensão</a:t>
            </a:r>
            <a:r>
              <a:rPr lang="en-US"/>
              <a:t> </a:t>
            </a:r>
            <a:r>
              <a:rPr lang="en-US" err="1"/>
              <a:t>Localização</a:t>
            </a:r>
            <a:r>
              <a:rPr lang="en-US"/>
              <a:t> (</a:t>
            </a:r>
            <a:r>
              <a:rPr lang="en-US" err="1"/>
              <a:t>dLocal</a:t>
            </a:r>
            <a:r>
              <a:rPr lang="en-US"/>
              <a:t>) 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Atributos</a:t>
            </a:r>
            <a:r>
              <a:rPr lang="en-US"/>
              <a:t>: </a:t>
            </a:r>
            <a:r>
              <a:rPr lang="en-US" err="1"/>
              <a:t>ID_Local</a:t>
            </a:r>
            <a:r>
              <a:rPr lang="en-US"/>
              <a:t>, Municipio, Estado, </a:t>
            </a:r>
            <a:r>
              <a:rPr lang="en-US" err="1"/>
              <a:t>Regiao</a:t>
            </a:r>
            <a:r>
              <a:rPr lang="en-US"/>
              <a:t>. 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Hierarquia</a:t>
            </a:r>
            <a:r>
              <a:rPr lang="en-US"/>
              <a:t>: </a:t>
            </a:r>
            <a:r>
              <a:rPr lang="en-US" err="1"/>
              <a:t>Região</a:t>
            </a:r>
            <a:r>
              <a:rPr lang="en-US"/>
              <a:t> → Estado → </a:t>
            </a:r>
            <a:r>
              <a:rPr lang="en-US" err="1"/>
              <a:t>Município</a:t>
            </a:r>
            <a:r>
              <a:rPr lang="en-US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8009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434B89F-7BBA-F3E2-5B5E-6EE0D48B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>
            <a:extLst>
              <a:ext uri="{FF2B5EF4-FFF2-40B4-BE49-F238E27FC236}">
                <a16:creationId xmlns:a16="http://schemas.microsoft.com/office/drawing/2014/main" id="{66376E70-9D81-E1B1-8E83-C0D58A556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39" name="Google Shape;139;p27">
            <a:extLst>
              <a:ext uri="{FF2B5EF4-FFF2-40B4-BE49-F238E27FC236}">
                <a16:creationId xmlns:a16="http://schemas.microsoft.com/office/drawing/2014/main" id="{73F986C1-223E-90C0-F430-EB3DD0B9F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Ø"/>
            </a:pPr>
            <a:r>
              <a:rPr lang="pt-BR"/>
              <a:t>Atributos e Hierarquia das Dimensões</a:t>
            </a:r>
          </a:p>
          <a:p>
            <a:pPr indent="0">
              <a:lnSpc>
                <a:spcPct val="114999"/>
              </a:lnSpc>
              <a:spcBef>
                <a:spcPts val="1600"/>
              </a:spcBef>
              <a:buNone/>
            </a:pPr>
            <a:r>
              <a:rPr lang="en-US" err="1"/>
              <a:t>Dimensão</a:t>
            </a:r>
            <a:r>
              <a:rPr lang="en-US"/>
              <a:t> Causa do </a:t>
            </a:r>
            <a:r>
              <a:rPr lang="en-US" err="1"/>
              <a:t>Óbito</a:t>
            </a:r>
            <a:r>
              <a:rPr lang="en-US"/>
              <a:t> (</a:t>
            </a:r>
            <a:r>
              <a:rPr lang="en-US" err="1"/>
              <a:t>dCausa</a:t>
            </a:r>
            <a:r>
              <a:rPr lang="en-US"/>
              <a:t>) 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Atributos</a:t>
            </a:r>
            <a:r>
              <a:rPr lang="en-US"/>
              <a:t>: </a:t>
            </a:r>
            <a:r>
              <a:rPr lang="en-US" err="1"/>
              <a:t>ID_Causa</a:t>
            </a:r>
            <a:r>
              <a:rPr lang="en-US"/>
              <a:t>, Codigo_CID10, </a:t>
            </a:r>
            <a:r>
              <a:rPr lang="en-US" err="1"/>
              <a:t>Descricao_Causa</a:t>
            </a:r>
            <a:r>
              <a:rPr lang="en-US"/>
              <a:t> (Grupo_CID10), </a:t>
            </a:r>
            <a:r>
              <a:rPr lang="en-US" err="1"/>
              <a:t>Grupo_Causa</a:t>
            </a:r>
            <a:r>
              <a:rPr lang="en-US"/>
              <a:t>. 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Hierarquia</a:t>
            </a:r>
            <a:r>
              <a:rPr lang="en-US"/>
              <a:t>: </a:t>
            </a:r>
            <a:r>
              <a:rPr lang="en-US" err="1"/>
              <a:t>Grupo_Causa</a:t>
            </a:r>
            <a:r>
              <a:rPr lang="en-US"/>
              <a:t> → </a:t>
            </a:r>
            <a:r>
              <a:rPr lang="en-US" err="1"/>
              <a:t>Descricao_Causa</a:t>
            </a:r>
            <a:r>
              <a:rPr lang="en-US"/>
              <a:t> → Codigo_CID10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5789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03157013-4386-EE98-2ECF-7BC2B760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>
            <a:extLst>
              <a:ext uri="{FF2B5EF4-FFF2-40B4-BE49-F238E27FC236}">
                <a16:creationId xmlns:a16="http://schemas.microsoft.com/office/drawing/2014/main" id="{9342D950-D6EA-75F0-C192-E10F10BAA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39" name="Google Shape;139;p27">
            <a:extLst>
              <a:ext uri="{FF2B5EF4-FFF2-40B4-BE49-F238E27FC236}">
                <a16:creationId xmlns:a16="http://schemas.microsoft.com/office/drawing/2014/main" id="{CE8951EB-719C-610B-490D-F5A7431AF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Ø"/>
            </a:pPr>
            <a:r>
              <a:rPr lang="pt-BR"/>
              <a:t>Atributos e Hierarquia das Dimensões</a:t>
            </a:r>
          </a:p>
          <a:p>
            <a:pPr indent="0">
              <a:lnSpc>
                <a:spcPct val="114999"/>
              </a:lnSpc>
              <a:spcBef>
                <a:spcPts val="1600"/>
              </a:spcBef>
              <a:buNone/>
            </a:pPr>
            <a:r>
              <a:rPr lang="en-US" err="1"/>
              <a:t>Dimensão</a:t>
            </a:r>
            <a:r>
              <a:rPr lang="en-US"/>
              <a:t> Pessoa (</a:t>
            </a:r>
            <a:r>
              <a:rPr lang="en-US" err="1"/>
              <a:t>dPessoa</a:t>
            </a:r>
            <a:r>
              <a:rPr lang="en-US"/>
              <a:t>) </a:t>
            </a: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/>
              <a:t> </a:t>
            </a:r>
            <a:r>
              <a:rPr lang="en-US" err="1"/>
              <a:t>Atributos</a:t>
            </a:r>
            <a:r>
              <a:rPr lang="en-US"/>
              <a:t>: </a:t>
            </a:r>
            <a:r>
              <a:rPr lang="pt-BR">
                <a:solidFill>
                  <a:schemeClr val="bg2"/>
                </a:solidFill>
              </a:rPr>
              <a:t>Faixa etária; Sexo; Idade; Raça</a:t>
            </a:r>
            <a:endParaRPr lang="en-US">
              <a:solidFill>
                <a:schemeClr val="bg2"/>
              </a:solidFill>
            </a:endParaRPr>
          </a:p>
          <a:p>
            <a:pPr marL="742950" indent="-285750">
              <a:lnSpc>
                <a:spcPct val="114999"/>
              </a:lnSpc>
              <a:spcBef>
                <a:spcPts val="1600"/>
              </a:spcBef>
              <a:buFont typeface="Wingdings"/>
              <a:buChar char="Ø"/>
            </a:pPr>
            <a:r>
              <a:rPr lang="en-US" err="1"/>
              <a:t>Hierarquia</a:t>
            </a:r>
            <a:r>
              <a:rPr lang="en-US"/>
              <a:t>: </a:t>
            </a:r>
            <a:r>
              <a:rPr lang="en-US" err="1"/>
              <a:t>Não</a:t>
            </a:r>
            <a:r>
              <a:rPr lang="en-US"/>
              <a:t> se </a:t>
            </a:r>
            <a:r>
              <a:rPr lang="en-US" err="1"/>
              <a:t>aplica</a:t>
            </a:r>
            <a:r>
              <a:rPr lang="en-US"/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390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/>
              <a:buChar char="Ø"/>
            </a:pPr>
            <a:r>
              <a:rPr lang="pt-BR"/>
              <a:t>Métricas da Fato (incluir o tipo da métrica: aditiva…)</a:t>
            </a:r>
          </a:p>
          <a:p>
            <a:pPr marL="114300" indent="0">
              <a:lnSpc>
                <a:spcPct val="114999"/>
              </a:lnSpc>
              <a:buNone/>
            </a:pPr>
            <a:endParaRPr lang="pt-BR"/>
          </a:p>
          <a:p>
            <a:pPr marL="114300" indent="0">
              <a:lnSpc>
                <a:spcPct val="114999"/>
              </a:lnSpc>
              <a:buNone/>
            </a:pPr>
            <a:r>
              <a:rPr lang="pt-BR"/>
              <a:t>A tabela de factos irá conter a seguinte métrica:</a:t>
            </a:r>
          </a:p>
          <a:p>
            <a:pPr marL="114300" indent="0">
              <a:lnSpc>
                <a:spcPct val="114999"/>
              </a:lnSpc>
              <a:buNone/>
            </a:pPr>
            <a:endParaRPr lang="pt-BR"/>
          </a:p>
          <a:p>
            <a:pPr>
              <a:lnSpc>
                <a:spcPct val="114999"/>
              </a:lnSpc>
              <a:buFont typeface="Wingdings"/>
              <a:buChar char="Ø"/>
            </a:pPr>
            <a:r>
              <a:rPr lang="pt-BR"/>
              <a:t> </a:t>
            </a:r>
            <a:r>
              <a:rPr lang="pt-BR" err="1"/>
              <a:t>Quantidade_Obitos</a:t>
            </a:r>
            <a:r>
              <a:rPr lang="pt-BR"/>
              <a:t>: Uma métrica aditiva que armazena o valor "1" para cada registo, representando um óbito. A sua soma resulta na contagem total de óbitos</a:t>
            </a:r>
          </a:p>
          <a:p>
            <a:pPr marL="0" lvl="0" indent="0" algn="l" rtl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 startAt="6"/>
            </a:pPr>
            <a:r>
              <a:rPr lang="pt-BR"/>
              <a:t>Esquema Estrela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1A0A753-6B83-04CF-242C-F6983896C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038981"/>
              </p:ext>
            </p:extLst>
          </p:nvPr>
        </p:nvGraphicFramePr>
        <p:xfrm>
          <a:off x="480786" y="1696356"/>
          <a:ext cx="2039486" cy="1785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86">
                  <a:extLst>
                    <a:ext uri="{9D8B030D-6E8A-4147-A177-3AD203B41FA5}">
                      <a16:colId xmlns:a16="http://schemas.microsoft.com/office/drawing/2014/main" val="2163220842"/>
                    </a:ext>
                  </a:extLst>
                </a:gridCol>
              </a:tblGrid>
              <a:tr h="322125">
                <a:tc>
                  <a:txBody>
                    <a:bodyPr/>
                    <a:lstStyle/>
                    <a:p>
                      <a:pPr algn="ctr"/>
                      <a:r>
                        <a:rPr lang="pt-BR" err="1"/>
                        <a:t>dTempo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25936"/>
                  </a:ext>
                </a:extLst>
              </a:tr>
              <a:tr h="26355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 </a:t>
                      </a:r>
                      <a:r>
                        <a:rPr lang="pt-BR" err="1"/>
                        <a:t>ID_Tempo</a:t>
                      </a:r>
                      <a:r>
                        <a:rPr lang="pt-BR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26752"/>
                  </a:ext>
                </a:extLst>
              </a:tr>
              <a:tr h="8199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Ano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Trimestre</a:t>
                      </a: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Mês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Semana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7154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21922C1-0456-B2C3-0349-A14903C1F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231747"/>
              </p:ext>
            </p:extLst>
          </p:nvPr>
        </p:nvGraphicFramePr>
        <p:xfrm>
          <a:off x="6794499" y="1696355"/>
          <a:ext cx="2039486" cy="1253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86">
                  <a:extLst>
                    <a:ext uri="{9D8B030D-6E8A-4147-A177-3AD203B41FA5}">
                      <a16:colId xmlns:a16="http://schemas.microsoft.com/office/drawing/2014/main" val="2163220842"/>
                    </a:ext>
                  </a:extLst>
                </a:gridCol>
              </a:tblGrid>
              <a:tr h="250455">
                <a:tc>
                  <a:txBody>
                    <a:bodyPr/>
                    <a:lstStyle/>
                    <a:p>
                      <a:pPr algn="ctr"/>
                      <a:r>
                        <a:rPr lang="pt-BR" err="1"/>
                        <a:t>dLocal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25936"/>
                  </a:ext>
                </a:extLst>
              </a:tr>
              <a:tr h="241510">
                <a:tc>
                  <a:txBody>
                    <a:bodyPr/>
                    <a:lstStyle/>
                    <a:p>
                      <a:r>
                        <a:rPr lang="pt-BR"/>
                        <a:t> </a:t>
                      </a: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 </a:t>
                      </a:r>
                      <a:r>
                        <a:rPr lang="pt-BR" err="1"/>
                        <a:t>ID_Local</a:t>
                      </a:r>
                      <a:r>
                        <a:rPr lang="pt-BR"/>
                        <a:t> </a:t>
                      </a:r>
                      <a:endParaRPr lang="pt-BR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26752"/>
                  </a:ext>
                </a:extLst>
              </a:tr>
              <a:tr h="6440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Região</a:t>
                      </a: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71549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46B6603-8473-C5EF-DFD0-5E4D0FA3C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7035"/>
              </p:ext>
            </p:extLst>
          </p:nvPr>
        </p:nvGraphicFramePr>
        <p:xfrm>
          <a:off x="480785" y="3555998"/>
          <a:ext cx="2039486" cy="144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86">
                  <a:extLst>
                    <a:ext uri="{9D8B030D-6E8A-4147-A177-3AD203B41FA5}">
                      <a16:colId xmlns:a16="http://schemas.microsoft.com/office/drawing/2014/main" val="2163220842"/>
                    </a:ext>
                  </a:extLst>
                </a:gridCol>
              </a:tblGrid>
              <a:tr h="322125">
                <a:tc>
                  <a:txBody>
                    <a:bodyPr/>
                    <a:lstStyle/>
                    <a:p>
                      <a:pPr algn="ctr"/>
                      <a:r>
                        <a:rPr lang="pt-BR" err="1"/>
                        <a:t>dCausa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25936"/>
                  </a:ext>
                </a:extLst>
              </a:tr>
              <a:tr h="26355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 </a:t>
                      </a:r>
                      <a:r>
                        <a:rPr lang="pt-BR" err="1"/>
                        <a:t>ID_Causa</a:t>
                      </a:r>
                      <a:r>
                        <a:rPr lang="pt-BR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26752"/>
                  </a:ext>
                </a:extLst>
              </a:tr>
              <a:tr h="8199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Descrição</a:t>
                      </a: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Grupo</a:t>
                      </a:r>
                    </a:p>
                    <a:p>
                      <a:pPr lvl="0"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Cid-10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71549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14E9D03-7A72-2917-32A7-C225B44E6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1033"/>
              </p:ext>
            </p:extLst>
          </p:nvPr>
        </p:nvGraphicFramePr>
        <p:xfrm>
          <a:off x="6794500" y="3292927"/>
          <a:ext cx="2039486" cy="1641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86">
                  <a:extLst>
                    <a:ext uri="{9D8B030D-6E8A-4147-A177-3AD203B41FA5}">
                      <a16:colId xmlns:a16="http://schemas.microsoft.com/office/drawing/2014/main" val="2163220842"/>
                    </a:ext>
                  </a:extLst>
                </a:gridCol>
              </a:tblGrid>
              <a:tr h="322125">
                <a:tc>
                  <a:txBody>
                    <a:bodyPr/>
                    <a:lstStyle/>
                    <a:p>
                      <a:pPr algn="ctr"/>
                      <a:r>
                        <a:rPr lang="pt-BR" err="1"/>
                        <a:t>dPessoa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25936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 </a:t>
                      </a:r>
                      <a:r>
                        <a:rPr lang="pt-BR" err="1"/>
                        <a:t>ID_Pessoa</a:t>
                      </a:r>
                      <a:r>
                        <a:rPr lang="pt-BR"/>
                        <a:t> </a:t>
                      </a:r>
                      <a:endParaRPr lang="pt-BR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26752"/>
                  </a:ext>
                </a:extLst>
              </a:tr>
              <a:tr h="5216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err="1"/>
                        <a:t>Faixa_etária</a:t>
                      </a:r>
                    </a:p>
                    <a:p>
                      <a:pPr lvl="0">
                        <a:buNone/>
                      </a:pPr>
                      <a:r>
                        <a:rPr lang="pt-BR"/>
                        <a:t>Sexo</a:t>
                      </a:r>
                    </a:p>
                    <a:p>
                      <a:pPr lvl="0">
                        <a:buNone/>
                      </a:pPr>
                      <a:r>
                        <a:rPr lang="pt-BR"/>
                        <a:t>Idade</a:t>
                      </a:r>
                    </a:p>
                    <a:p>
                      <a:pPr lvl="0">
                        <a:buNone/>
                      </a:pPr>
                      <a:r>
                        <a:rPr lang="pt-BR"/>
                        <a:t>Raça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353062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902286E-2E11-5958-D814-A8CD8A479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76875"/>
              </p:ext>
            </p:extLst>
          </p:nvPr>
        </p:nvGraphicFramePr>
        <p:xfrm>
          <a:off x="3337991" y="2145734"/>
          <a:ext cx="2842177" cy="21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177">
                  <a:extLst>
                    <a:ext uri="{9D8B030D-6E8A-4147-A177-3AD203B41FA5}">
                      <a16:colId xmlns:a16="http://schemas.microsoft.com/office/drawing/2014/main" val="3153863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err="1"/>
                        <a:t>fObitos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3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</a:t>
                      </a:r>
                      <a:r>
                        <a:rPr lang="pt-BR" err="1"/>
                        <a:t>ID_Tempo</a:t>
                      </a:r>
                      <a:r>
                        <a:rPr lang="pt-BR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69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</a:t>
                      </a:r>
                      <a:r>
                        <a:rPr lang="pt-BR" err="1"/>
                        <a:t>ID_Local</a:t>
                      </a:r>
                      <a:r>
                        <a:rPr lang="pt-BR"/>
                        <a:t> </a:t>
                      </a:r>
                      <a:endParaRPr lang="pt-BR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5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</a:t>
                      </a:r>
                      <a:r>
                        <a:rPr lang="pt-BR" err="1"/>
                        <a:t>ID_Causa</a:t>
                      </a:r>
                      <a:r>
                        <a:rPr lang="pt-BR"/>
                        <a:t> </a:t>
                      </a:r>
                      <a:endParaRPr lang="pt-BR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646437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(PK)</a:t>
                      </a:r>
                      <a:r>
                        <a:rPr lang="pt-BR" err="1"/>
                        <a:t>ID_Pessoa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15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/>
                        <a:t>Quantidade de óbitos</a:t>
                      </a:r>
                      <a:endParaRPr lang="pt-B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90790"/>
                  </a:ext>
                </a:extLst>
              </a:tr>
            </a:tbl>
          </a:graphicData>
        </a:graphic>
      </p:graphicFrame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FB023251-00F0-E2DA-C24D-4FCE911B6818}"/>
              </a:ext>
            </a:extLst>
          </p:cNvPr>
          <p:cNvCxnSpPr/>
          <p:nvPr/>
        </p:nvCxnSpPr>
        <p:spPr>
          <a:xfrm>
            <a:off x="2600836" y="2220597"/>
            <a:ext cx="669221" cy="3802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C89D7D31-3FF9-5836-E386-FADE01559293}"/>
              </a:ext>
            </a:extLst>
          </p:cNvPr>
          <p:cNvCxnSpPr/>
          <p:nvPr/>
        </p:nvCxnSpPr>
        <p:spPr>
          <a:xfrm flipV="1">
            <a:off x="2596410" y="3431113"/>
            <a:ext cx="695780" cy="5699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7CA98984-AF81-DFF2-ACD7-3BF0DCC5755F}"/>
              </a:ext>
            </a:extLst>
          </p:cNvPr>
          <p:cNvCxnSpPr/>
          <p:nvPr/>
        </p:nvCxnSpPr>
        <p:spPr>
          <a:xfrm flipH="1">
            <a:off x="6226046" y="2166115"/>
            <a:ext cx="505330" cy="8885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427AF223-269E-B16D-7266-17D95B0204B1}"/>
              </a:ext>
            </a:extLst>
          </p:cNvPr>
          <p:cNvCxnSpPr/>
          <p:nvPr/>
        </p:nvCxnSpPr>
        <p:spPr>
          <a:xfrm flipH="1" flipV="1">
            <a:off x="6259671" y="3721689"/>
            <a:ext cx="439846" cy="685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>
            <a:off x="311700" y="889404"/>
            <a:ext cx="8520600" cy="36794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 startAt="7"/>
            </a:pPr>
            <a:r>
              <a:rPr lang="pt-BR"/>
              <a:t>Simulação de inserção de 10 “fatos”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Imagem 1" descr="Tabela&#10;&#10;O conteúdo gerado por IA pode estar incorreto.">
            <a:extLst>
              <a:ext uri="{FF2B5EF4-FFF2-40B4-BE49-F238E27FC236}">
                <a16:creationId xmlns:a16="http://schemas.microsoft.com/office/drawing/2014/main" id="{7450F957-F8E4-9E03-6AA0-D7603AA8D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867" y="1285875"/>
            <a:ext cx="5257980" cy="38576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 do Data Mart (lógico)</a:t>
            </a: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pt-BR"/>
              <a:t>H. Estimativa de espaço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pt-BR"/>
              <a:t>Cálculo para armazenamento de dados dos últimos 5 anos. 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pt-BR"/>
              <a:t>Registos Anuais Estimados: ~180.000 (Infarto + AVC) 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pt-BR"/>
              <a:t>Total em 5 anos: 180.000 * 5 = 900.000 registos Tamanho por Registo (Fato): ~20 bytes 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pt-BR"/>
              <a:t>Espaço Tabela Fato: 900.000 * 20 bytes ≈ 18 MB</a:t>
            </a:r>
          </a:p>
          <a:p>
            <a:pPr>
              <a:lnSpc>
                <a:spcPct val="114999"/>
              </a:lnSpc>
              <a:buFont typeface="Wingdings"/>
              <a:buChar char="Ø"/>
            </a:pPr>
            <a:r>
              <a:rPr lang="pt-BR"/>
              <a:t>Estimativa Total (com índices): Aproximadamente 22 MB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4 - PROJETO FÍSICO DO BD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 dirty="0"/>
              <a:t>Modelo Relacional do Data Mart (físico)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B509CD-F447-108D-B20F-53BBA7831E90}"/>
              </a:ext>
            </a:extLst>
          </p:cNvPr>
          <p:cNvSpPr txBox="1"/>
          <p:nvPr/>
        </p:nvSpPr>
        <p:spPr>
          <a:xfrm>
            <a:off x="536222" y="134753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SGBD Utilizado:</a:t>
            </a:r>
            <a:r>
              <a:rPr lang="pt-BR" sz="1600" dirty="0"/>
              <a:t> PostgreSQL.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8AAD2A-2439-558A-0EF0-D47EC8020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22" y="1670700"/>
            <a:ext cx="422423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Esquema Estrela (Star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40CF0D-BC35-C458-C739-6C1B93DDF9D4}"/>
              </a:ext>
            </a:extLst>
          </p:cNvPr>
          <p:cNvSpPr txBox="1"/>
          <p:nvPr/>
        </p:nvSpPr>
        <p:spPr>
          <a:xfrm>
            <a:off x="536222" y="2015897"/>
            <a:ext cx="7862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Tabela Fato (</a:t>
            </a:r>
            <a:r>
              <a:rPr lang="pt-BR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fato_obitos</a:t>
            </a:r>
            <a:r>
              <a:rPr lang="pt-BR" b="1" dirty="0"/>
              <a:t>):</a:t>
            </a:r>
            <a:r>
              <a:rPr lang="pt-BR" dirty="0"/>
              <a:t> Armazena as métricas (quantidade de óbitos) e chaves estrangeiras.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0E6B01-9B96-E4CD-F9EE-9C9E4F9BFCC7}"/>
              </a:ext>
            </a:extLst>
          </p:cNvPr>
          <p:cNvSpPr txBox="1"/>
          <p:nvPr/>
        </p:nvSpPr>
        <p:spPr>
          <a:xfrm>
            <a:off x="536222" y="2347809"/>
            <a:ext cx="7648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Tabela Dimensão (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dim_tempo</a:t>
            </a:r>
            <a:r>
              <a:rPr lang="pt-BR" b="1" dirty="0"/>
              <a:t>):</a:t>
            </a:r>
            <a:r>
              <a:rPr lang="pt-BR" dirty="0"/>
              <a:t> Armazena a hierarquia temporal (Ano, Semestre, Trimestre, Mês, Dia).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BA7654-72D2-073A-2445-2FA663676F95}"/>
              </a:ext>
            </a:extLst>
          </p:cNvPr>
          <p:cNvSpPr txBox="1"/>
          <p:nvPr/>
        </p:nvSpPr>
        <p:spPr>
          <a:xfrm>
            <a:off x="536221" y="2915093"/>
            <a:ext cx="7648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Integridade:</a:t>
            </a:r>
            <a:r>
              <a:rPr lang="pt-BR" dirty="0"/>
              <a:t> Uso de Chaves Primárias (PK) e Estrangeiras (FK) para garantir a consistência dos dados.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D09313C-CFD8-27FE-9229-0DD632AC7E22}"/>
              </a:ext>
            </a:extLst>
          </p:cNvPr>
          <p:cNvSpPr txBox="1"/>
          <p:nvPr/>
        </p:nvSpPr>
        <p:spPr>
          <a:xfrm>
            <a:off x="536222" y="3462448"/>
            <a:ext cx="7648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Decisão de Design:</a:t>
            </a:r>
            <a:r>
              <a:rPr lang="pt-BR" dirty="0"/>
              <a:t> Utilização de </a:t>
            </a:r>
            <a:r>
              <a:rPr lang="pt-BR" i="1" dirty="0"/>
              <a:t>Dimensões Degeneradas</a:t>
            </a:r>
            <a:r>
              <a:rPr lang="pt-BR" dirty="0"/>
              <a:t> para Localidade e Dados Demográficos (armazenados na Fato para performance de leitura).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06A2A4-B918-6812-9C89-B4F30AA088FF}"/>
              </a:ext>
            </a:extLst>
          </p:cNvPr>
          <p:cNvSpPr txBox="1"/>
          <p:nvPr/>
        </p:nvSpPr>
        <p:spPr>
          <a:xfrm>
            <a:off x="1825977" y="4100034"/>
            <a:ext cx="5492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dim_tempo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sk_data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&lt;---&gt;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fato_obitos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sk_data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5 - EXTRAÇÃO, TRANSFORMAÇÃO E CARGA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2"/>
            </a:pPr>
            <a:r>
              <a:rPr lang="pt-BR"/>
              <a:t>Plano de Carga da Dimensão Tempo</a:t>
            </a:r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81BB51-500E-A85B-D806-9F64A24BC2B2}"/>
              </a:ext>
            </a:extLst>
          </p:cNvPr>
          <p:cNvSpPr txBox="1"/>
          <p:nvPr/>
        </p:nvSpPr>
        <p:spPr>
          <a:xfrm>
            <a:off x="479778" y="11524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Estratégia:</a:t>
            </a:r>
            <a:r>
              <a:rPr lang="pt-BR" dirty="0"/>
              <a:t> Geração via SQL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generate_series</a:t>
            </a:r>
            <a:r>
              <a:rPr lang="pt-BR" dirty="0"/>
              <a:t>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39488C-707B-3C8E-6759-948E1E897875}"/>
              </a:ext>
            </a:extLst>
          </p:cNvPr>
          <p:cNvSpPr txBox="1"/>
          <p:nvPr/>
        </p:nvSpPr>
        <p:spPr>
          <a:xfrm>
            <a:off x="479778" y="1595002"/>
            <a:ext cx="299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Período:</a:t>
            </a:r>
            <a:r>
              <a:rPr lang="pt-BR" dirty="0"/>
              <a:t> 01/01/2019 a 31/12/2024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5724C76-97CF-8B6F-8980-C5D660BF6479}"/>
              </a:ext>
            </a:extLst>
          </p:cNvPr>
          <p:cNvSpPr txBox="1"/>
          <p:nvPr/>
        </p:nvSpPr>
        <p:spPr>
          <a:xfrm>
            <a:off x="479778" y="1902779"/>
            <a:ext cx="79981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Atributos Gerados:</a:t>
            </a:r>
            <a:endParaRPr lang="pt-BR" dirty="0"/>
          </a:p>
          <a:p>
            <a:pPr marL="400050" lvl="2" indent="-400050">
              <a:buFont typeface="+mj-lt"/>
              <a:buAutoNum type="romanUcPeriod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sk_data</a:t>
            </a:r>
            <a:r>
              <a:rPr lang="pt-BR" dirty="0"/>
              <a:t>: Chave </a:t>
            </a:r>
            <a:r>
              <a:rPr lang="pt-BR" dirty="0" err="1"/>
              <a:t>subrogada</a:t>
            </a:r>
            <a:r>
              <a:rPr lang="pt-BR" dirty="0"/>
              <a:t> (YYYYMMDD).</a:t>
            </a:r>
          </a:p>
          <a:p>
            <a:pPr marL="400050" lvl="2" indent="-400050">
              <a:buFont typeface="+mj-lt"/>
              <a:buAutoNum type="romanU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Trimestre/Semestre: </a:t>
            </a:r>
            <a:r>
              <a:rPr lang="pt-BR" dirty="0"/>
              <a:t>Calculados matematicamente.</a:t>
            </a:r>
          </a:p>
          <a:p>
            <a:pPr marL="400050" lvl="2" indent="-400050">
              <a:buFont typeface="+mj-lt"/>
              <a:buAutoNum type="romanU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do Mês/Dia: </a:t>
            </a:r>
            <a:r>
              <a:rPr lang="pt-BR" dirty="0"/>
              <a:t>Extração de texto para relatórios.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930F500-FCCF-CF13-3522-2C712DF541BF}"/>
              </a:ext>
            </a:extLst>
          </p:cNvPr>
          <p:cNvSpPr txBox="1"/>
          <p:nvPr/>
        </p:nvSpPr>
        <p:spPr>
          <a:xfrm>
            <a:off x="417689" y="2903053"/>
            <a:ext cx="8414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Justificativa:</a:t>
            </a:r>
            <a:r>
              <a:rPr lang="pt-BR" dirty="0"/>
              <a:t> A geração via banco de dados é mais performática que o processamento linha a linha no ETL para tabelas de calendário.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 startAt="13"/>
            </a:pPr>
            <a:r>
              <a:rPr lang="pt-BR" dirty="0"/>
              <a:t>Plano de Carga Tratamento da </a:t>
            </a:r>
            <a:r>
              <a:rPr lang="pt-BR" dirty="0" err="1"/>
              <a:t>Staging</a:t>
            </a:r>
            <a:r>
              <a:rPr lang="pt-BR" dirty="0"/>
              <a:t> Area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66B26D-7958-AACE-6720-43322DDB0119}"/>
              </a:ext>
            </a:extLst>
          </p:cNvPr>
          <p:cNvSpPr txBox="1"/>
          <p:nvPr/>
        </p:nvSpPr>
        <p:spPr>
          <a:xfrm>
            <a:off x="311700" y="1296256"/>
            <a:ext cx="6462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Extração (PDI):</a:t>
            </a:r>
            <a:r>
              <a:rPr lang="pt-BR" dirty="0"/>
              <a:t> Leitura do arquivo </a:t>
            </a:r>
            <a:r>
              <a:rPr lang="pt-BR" dirty="0">
                <a:latin typeface="Courier New" panose="02070309020205020404" pitchFamily="49" charset="0"/>
              </a:rPr>
              <a:t>sad.csv</a:t>
            </a:r>
            <a:r>
              <a:rPr lang="pt-BR" dirty="0"/>
              <a:t> (Delimitador </a:t>
            </a:r>
            <a:r>
              <a:rPr lang="pt-BR" dirty="0">
                <a:latin typeface="Courier New" panose="02070309020205020404" pitchFamily="49" charset="0"/>
              </a:rPr>
              <a:t>;</a:t>
            </a:r>
            <a:r>
              <a:rPr lang="pt-BR" dirty="0"/>
              <a:t>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5003FC-4831-9594-9198-67556EFF7042}"/>
              </a:ext>
            </a:extLst>
          </p:cNvPr>
          <p:cNvSpPr txBox="1"/>
          <p:nvPr/>
        </p:nvSpPr>
        <p:spPr>
          <a:xfrm>
            <a:off x="311700" y="1620954"/>
            <a:ext cx="777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Carga </a:t>
            </a:r>
            <a:r>
              <a:rPr lang="pt-BR" b="1" dirty="0" err="1"/>
              <a:t>Raw</a:t>
            </a:r>
            <a:r>
              <a:rPr lang="pt-BR" b="1" dirty="0"/>
              <a:t>:</a:t>
            </a:r>
            <a:r>
              <a:rPr lang="pt-BR" dirty="0"/>
              <a:t> Os dados são carregados "como estão" para a tabela </a:t>
            </a:r>
            <a:r>
              <a:rPr lang="pt-BR" dirty="0" err="1">
                <a:latin typeface="Courier New" panose="02070309020205020404" pitchFamily="49" charset="0"/>
              </a:rPr>
              <a:t>stg_obitos_raw</a:t>
            </a:r>
            <a:r>
              <a:rPr lang="pt-BR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CA8E2D-4C11-5282-65B3-1D4A1BC09AEF}"/>
              </a:ext>
            </a:extLst>
          </p:cNvPr>
          <p:cNvSpPr txBox="1"/>
          <p:nvPr/>
        </p:nvSpPr>
        <p:spPr>
          <a:xfrm>
            <a:off x="434622" y="1986974"/>
            <a:ext cx="82239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Desafios Tratados: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Formato Pivotado (Meses em colunas)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Sujeira nos dados (</a:t>
            </a:r>
            <a:r>
              <a:rPr lang="pt-BR" dirty="0" err="1"/>
              <a:t>Ex</a:t>
            </a:r>
            <a:r>
              <a:rPr lang="pt-BR" dirty="0"/>
              <a:t>: Anos com asterisco </a:t>
            </a:r>
            <a:r>
              <a:rPr lang="pt-BR" dirty="0">
                <a:latin typeface="Courier New" panose="02070309020205020404" pitchFamily="49" charset="0"/>
              </a:rPr>
              <a:t>2024*</a:t>
            </a:r>
            <a:r>
              <a:rPr lang="pt-BR" dirty="0"/>
              <a:t>).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Formatação numérica inadequada (Uso de pontos de milhar em campos texto).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 startAt="14"/>
            </a:pPr>
            <a:r>
              <a:rPr lang="pt-BR" dirty="0"/>
              <a:t>Transformação de Atributos (Localidade e Demografia)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2FF1B9-962F-60F4-F47D-A590F1D82DAF}"/>
              </a:ext>
            </a:extLst>
          </p:cNvPr>
          <p:cNvSpPr txBox="1"/>
          <p:nvPr/>
        </p:nvSpPr>
        <p:spPr>
          <a:xfrm>
            <a:off x="311700" y="165233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Processo:</a:t>
            </a:r>
            <a:r>
              <a:rPr lang="pt-BR" dirty="0"/>
              <a:t> Limpeza e Padronização via SQL.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3F8F1F-D8B5-BDF0-3253-5F6383D8C0A0}"/>
              </a:ext>
            </a:extLst>
          </p:cNvPr>
          <p:cNvSpPr txBox="1"/>
          <p:nvPr/>
        </p:nvSpPr>
        <p:spPr>
          <a:xfrm>
            <a:off x="311700" y="1960111"/>
            <a:ext cx="88323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Atributo Localidade: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Filtro para remover totalizadores (</a:t>
            </a:r>
            <a:r>
              <a:rPr lang="pt-BR" dirty="0">
                <a:latin typeface="Courier New" panose="02070309020205020404" pitchFamily="49" charset="0"/>
              </a:rPr>
              <a:t>'Brasil'</a:t>
            </a:r>
            <a:r>
              <a:rPr lang="pt-BR" dirty="0"/>
              <a:t>) quando necessário.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Normalização dos nomes de Regiões.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29E69DA-3EFD-483B-53CC-D6C4FEAC3063}"/>
              </a:ext>
            </a:extLst>
          </p:cNvPr>
          <p:cNvSpPr txBox="1"/>
          <p:nvPr/>
        </p:nvSpPr>
        <p:spPr>
          <a:xfrm>
            <a:off x="423334" y="2780267"/>
            <a:ext cx="80771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Atributo Faixa Etária e Sexo: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Tratamento de valores nulos.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Identificação de categorias agregadas ("Todos").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788995-DC61-E860-31AE-45FC4C3401F4}"/>
              </a:ext>
            </a:extLst>
          </p:cNvPr>
          <p:cNvSpPr txBox="1"/>
          <p:nvPr/>
        </p:nvSpPr>
        <p:spPr>
          <a:xfrm>
            <a:off x="423333" y="3600423"/>
            <a:ext cx="8077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Objetivo:</a:t>
            </a:r>
            <a:r>
              <a:rPr lang="pt-BR" dirty="0"/>
              <a:t> Preparar os descritores para serem armazenados como Dimensões Degeneradas na tabela Fato.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5"/>
            </a:pPr>
            <a:r>
              <a:rPr lang="pt-BR"/>
              <a:t>Plano de Carga da Fato</a:t>
            </a:r>
            <a:endParaRPr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76156C3-406D-527F-82C8-EE200F6E9C05}"/>
              </a:ext>
            </a:extLst>
          </p:cNvPr>
          <p:cNvSpPr txBox="1"/>
          <p:nvPr/>
        </p:nvSpPr>
        <p:spPr>
          <a:xfrm>
            <a:off x="479778" y="1233689"/>
            <a:ext cx="83525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Técnica Principal:</a:t>
            </a:r>
            <a:r>
              <a:rPr lang="pt-BR" dirty="0"/>
              <a:t> </a:t>
            </a:r>
            <a:r>
              <a:rPr lang="pt-BR" i="1" dirty="0" err="1"/>
              <a:t>Unpivot</a:t>
            </a:r>
            <a:r>
              <a:rPr lang="pt-BR" dirty="0"/>
              <a:t> (Verticalização).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Transformação de 12 colunas (Jan-Dez) em linhas.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Aumento da granularidade para nível mensal.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CD390C-5FBF-8CAC-D006-72EAF1E00B1C}"/>
              </a:ext>
            </a:extLst>
          </p:cNvPr>
          <p:cNvSpPr txBox="1"/>
          <p:nvPr/>
        </p:nvSpPr>
        <p:spPr>
          <a:xfrm>
            <a:off x="479778" y="2094696"/>
            <a:ext cx="76482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Geração de Chaves (</a:t>
            </a:r>
            <a:r>
              <a:rPr lang="pt-BR" b="1" dirty="0" err="1"/>
              <a:t>Surrogate</a:t>
            </a:r>
            <a:r>
              <a:rPr lang="pt-BR" b="1" dirty="0"/>
              <a:t> Keys):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Criação da chave </a:t>
            </a:r>
            <a:r>
              <a:rPr lang="pt-BR" dirty="0" err="1">
                <a:latin typeface="Courier New" panose="02070309020205020404" pitchFamily="49" charset="0"/>
              </a:rPr>
              <a:t>sk_data</a:t>
            </a:r>
            <a:r>
              <a:rPr lang="pt-BR" dirty="0"/>
              <a:t> usando a lógica </a:t>
            </a:r>
            <a:r>
              <a:rPr lang="pt-BR" dirty="0">
                <a:latin typeface="Courier New" panose="02070309020205020404" pitchFamily="49" charset="0"/>
              </a:rPr>
              <a:t>Ano + LPAD(Mês) + '01’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Garantia de integridade com a </a:t>
            </a:r>
            <a:r>
              <a:rPr lang="pt-BR" dirty="0" err="1">
                <a:latin typeface="Courier New" panose="02070309020205020404" pitchFamily="49" charset="0"/>
              </a:rPr>
              <a:t>dim_tempo</a:t>
            </a:r>
            <a:r>
              <a:rPr lang="pt-BR" dirty="0"/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12A120-471E-53E7-59CB-60660F66A243}"/>
              </a:ext>
            </a:extLst>
          </p:cNvPr>
          <p:cNvSpPr txBox="1"/>
          <p:nvPr/>
        </p:nvSpPr>
        <p:spPr>
          <a:xfrm>
            <a:off x="479777" y="2955703"/>
            <a:ext cx="83525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Filtros de Qualidade:</a:t>
            </a:r>
            <a:r>
              <a:rPr lang="pt-BR" dirty="0"/>
              <a:t> Remoção de linhas com quantidade de óbitos zerada ou nula.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>
            <a:spLocks noGrp="1"/>
          </p:cNvSpPr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 6 - APLICAÇÃO OLAP e PAINEL DE BORDO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Consulta OLAP 1</a:t>
            </a:r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EB7BC4-9D68-EF6A-5328-271040B1E5A4}"/>
              </a:ext>
            </a:extLst>
          </p:cNvPr>
          <p:cNvSpPr txBox="1"/>
          <p:nvPr/>
        </p:nvSpPr>
        <p:spPr>
          <a:xfrm>
            <a:off x="311700" y="1152475"/>
            <a:ext cx="8177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Pergunta de Negócio:</a:t>
            </a:r>
            <a:r>
              <a:rPr lang="pt-BR" dirty="0"/>
              <a:t> "Qual a tendência real de óbitos, suavizando as oscilações mensais?"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14AE57-7C27-3EA3-F0F6-33CD4BF320DF}"/>
              </a:ext>
            </a:extLst>
          </p:cNvPr>
          <p:cNvSpPr txBox="1"/>
          <p:nvPr/>
        </p:nvSpPr>
        <p:spPr>
          <a:xfrm>
            <a:off x="311699" y="1595002"/>
            <a:ext cx="7646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Técnica </a:t>
            </a:r>
            <a:r>
              <a:rPr lang="en-US" b="1" dirty="0" err="1"/>
              <a:t>Utilizada</a:t>
            </a:r>
            <a:r>
              <a:rPr lang="en-US" b="1" dirty="0"/>
              <a:t>:</a:t>
            </a:r>
            <a:r>
              <a:rPr lang="en-US" dirty="0"/>
              <a:t> Window Functions (</a:t>
            </a:r>
            <a:r>
              <a:rPr lang="en-US" dirty="0">
                <a:latin typeface="Courier New" panose="02070309020205020404" pitchFamily="49" charset="0"/>
              </a:rPr>
              <a:t>AVG OVER ... ROWS BETWEEN 2 PRECEDING</a:t>
            </a:r>
            <a:r>
              <a:rPr lang="en-US" dirty="0"/>
              <a:t>).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5CD567-F857-DD75-1CDE-CF7F220C8B84}"/>
              </a:ext>
            </a:extLst>
          </p:cNvPr>
          <p:cNvSpPr txBox="1"/>
          <p:nvPr/>
        </p:nvSpPr>
        <p:spPr>
          <a:xfrm>
            <a:off x="311698" y="2110724"/>
            <a:ext cx="7996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Resultado:</a:t>
            </a:r>
            <a:r>
              <a:rPr lang="pt-BR" dirty="0"/>
              <a:t> Identificação clara de picos sazonais (</a:t>
            </a:r>
            <a:r>
              <a:rPr lang="pt-BR" dirty="0" err="1"/>
              <a:t>ex</a:t>
            </a:r>
            <a:r>
              <a:rPr lang="pt-BR" dirty="0"/>
              <a:t>: Inverno) e criação de alertas automáticos quando o valor real excede a média móvel.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51B9293-CCFF-33CB-52A2-0C1440E3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69" t="44990" r="60741" b="38102"/>
          <a:stretch>
            <a:fillRect/>
          </a:stretch>
        </p:blipFill>
        <p:spPr>
          <a:xfrm>
            <a:off x="2157430" y="2888121"/>
            <a:ext cx="4305457" cy="14265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 dirty="0"/>
              <a:t>Consulta OLAP 2</a:t>
            </a:r>
            <a:endParaRPr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3E5A1F4-9E39-29D7-D731-C2E9C0BCD6CA}"/>
              </a:ext>
            </a:extLst>
          </p:cNvPr>
          <p:cNvSpPr txBox="1"/>
          <p:nvPr/>
        </p:nvSpPr>
        <p:spPr>
          <a:xfrm>
            <a:off x="504092" y="1160529"/>
            <a:ext cx="8328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Pergunta de Negócio:</a:t>
            </a:r>
            <a:r>
              <a:rPr lang="pt-BR" dirty="0"/>
              <a:t> "Como as regiões se comparam em volume e qual a variação em relação ao ano anterior (</a:t>
            </a:r>
            <a:r>
              <a:rPr lang="pt-BR" dirty="0" err="1"/>
              <a:t>YoY</a:t>
            </a:r>
            <a:r>
              <a:rPr lang="pt-BR" dirty="0"/>
              <a:t>)?"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EC39DE-4772-E1BF-685A-FBF025274C34}"/>
              </a:ext>
            </a:extLst>
          </p:cNvPr>
          <p:cNvSpPr txBox="1"/>
          <p:nvPr/>
        </p:nvSpPr>
        <p:spPr>
          <a:xfrm>
            <a:off x="504092" y="1826553"/>
            <a:ext cx="807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Técnica Utilizada:</a:t>
            </a:r>
            <a:r>
              <a:rPr lang="pt-BR" dirty="0"/>
              <a:t> Time </a:t>
            </a:r>
            <a:r>
              <a:rPr lang="pt-BR" dirty="0" err="1"/>
              <a:t>Intelligence</a:t>
            </a:r>
            <a:r>
              <a:rPr lang="pt-BR" dirty="0"/>
              <a:t> (DAX: </a:t>
            </a:r>
            <a:r>
              <a:rPr lang="pt-BR" dirty="0">
                <a:latin typeface="Courier New" panose="02070309020205020404" pitchFamily="49" charset="0"/>
              </a:rPr>
              <a:t>SAMEPERIODLASTYEAR</a:t>
            </a:r>
            <a:r>
              <a:rPr lang="pt-BR" dirty="0"/>
              <a:t>).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473D3A5-2600-438C-BA64-9DF829C8914F}"/>
              </a:ext>
            </a:extLst>
          </p:cNvPr>
          <p:cNvSpPr txBox="1"/>
          <p:nvPr/>
        </p:nvSpPr>
        <p:spPr>
          <a:xfrm>
            <a:off x="504091" y="2277134"/>
            <a:ext cx="83282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Resultado: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Ranking de regiões mais críticas (Sudeste/Nordeste).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Indicadores visuais de crescimento ou redução percentual.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6C0105D-5126-B768-52F2-DB575CB3F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64" t="46242" r="27885" b="19781"/>
          <a:stretch>
            <a:fillRect/>
          </a:stretch>
        </p:blipFill>
        <p:spPr>
          <a:xfrm>
            <a:off x="2992871" y="3158602"/>
            <a:ext cx="3158257" cy="188232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Consulta OLAP 3</a:t>
            </a:r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35A33E-58CE-B245-27D4-8BB96E0954E5}"/>
              </a:ext>
            </a:extLst>
          </p:cNvPr>
          <p:cNvSpPr txBox="1"/>
          <p:nvPr/>
        </p:nvSpPr>
        <p:spPr>
          <a:xfrm>
            <a:off x="311699" y="1209636"/>
            <a:ext cx="8520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Pergunta de Negócio:</a:t>
            </a:r>
            <a:r>
              <a:rPr lang="pt-BR" dirty="0"/>
              <a:t> "Qual faixa etária está mais vulnerável e como isso mudou de 2023 para 2024?"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FE632D-A7D4-8198-678C-75824BF8E865}"/>
              </a:ext>
            </a:extLst>
          </p:cNvPr>
          <p:cNvSpPr txBox="1"/>
          <p:nvPr/>
        </p:nvSpPr>
        <p:spPr>
          <a:xfrm>
            <a:off x="311698" y="1709324"/>
            <a:ext cx="8269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Técnica Utilizada:</a:t>
            </a:r>
            <a:r>
              <a:rPr lang="pt-BR" dirty="0"/>
              <a:t> Agregação e </a:t>
            </a:r>
            <a:r>
              <a:rPr lang="pt-BR" dirty="0" err="1"/>
              <a:t>Pivoteamento</a:t>
            </a:r>
            <a:r>
              <a:rPr lang="pt-BR" dirty="0"/>
              <a:t> Dinâmico (Matrix).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DA4E56-0903-5D7D-A4E9-25AF24662E1C}"/>
              </a:ext>
            </a:extLst>
          </p:cNvPr>
          <p:cNvSpPr txBox="1"/>
          <p:nvPr/>
        </p:nvSpPr>
        <p:spPr>
          <a:xfrm>
            <a:off x="398584" y="2202418"/>
            <a:ext cx="8269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Resultado:</a:t>
            </a:r>
            <a:r>
              <a:rPr lang="pt-BR" dirty="0"/>
              <a:t> Visualização tabular que cruza </a:t>
            </a:r>
            <a:r>
              <a:rPr lang="pt-BR" i="1" dirty="0"/>
              <a:t>Faixa Etária</a:t>
            </a:r>
            <a:r>
              <a:rPr lang="pt-BR" dirty="0"/>
              <a:t> x </a:t>
            </a:r>
            <a:r>
              <a:rPr lang="pt-BR" i="1" dirty="0"/>
              <a:t>Ano</a:t>
            </a:r>
            <a:r>
              <a:rPr lang="pt-BR" dirty="0"/>
              <a:t>, com formatação condicional (Barras de dados) para destacar volumes críticos.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0DB045B-2E7E-4E20-766E-3819D547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85" t="63140" r="60000" b="19986"/>
          <a:stretch>
            <a:fillRect/>
          </a:stretch>
        </p:blipFill>
        <p:spPr>
          <a:xfrm>
            <a:off x="2318755" y="2976889"/>
            <a:ext cx="4246168" cy="136024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Painel de Bordo XXXX (ponto extra)</a:t>
            </a:r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8B00A1-8829-A915-3A53-8BC349FD111A}"/>
              </a:ext>
            </a:extLst>
          </p:cNvPr>
          <p:cNvSpPr txBox="1"/>
          <p:nvPr/>
        </p:nvSpPr>
        <p:spPr>
          <a:xfrm>
            <a:off x="574431" y="11524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Visão Geral:</a:t>
            </a:r>
            <a:r>
              <a:rPr lang="pt-BR" dirty="0"/>
              <a:t> Painel interativo para suporte à decisão.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57F85A-9469-4C05-FB16-66073F466725}"/>
              </a:ext>
            </a:extLst>
          </p:cNvPr>
          <p:cNvSpPr txBox="1"/>
          <p:nvPr/>
        </p:nvSpPr>
        <p:spPr>
          <a:xfrm>
            <a:off x="574431" y="1460252"/>
            <a:ext cx="81006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Funcionalidades:</a:t>
            </a:r>
            <a:endParaRPr lang="pt-BR" dirty="0"/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Filtros cruzados (Ano, Região, Faixa Etária).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 err="1"/>
              <a:t>Drill-down</a:t>
            </a:r>
            <a:r>
              <a:rPr lang="pt-BR" dirty="0"/>
              <a:t> temporal (Ano &gt; Trimestre &gt; Mês).</a:t>
            </a:r>
          </a:p>
          <a:p>
            <a:pPr marL="400050" indent="-400050">
              <a:buFont typeface="+mj-lt"/>
              <a:buAutoNum type="romanUcPeriod"/>
            </a:pPr>
            <a:r>
              <a:rPr lang="pt-BR" dirty="0"/>
              <a:t>KPIs dinâmicos com comparação histórica.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944A3-CB63-414A-6644-F51853574738}"/>
              </a:ext>
            </a:extLst>
          </p:cNvPr>
          <p:cNvSpPr txBox="1"/>
          <p:nvPr/>
        </p:nvSpPr>
        <p:spPr>
          <a:xfrm>
            <a:off x="574430" y="2467532"/>
            <a:ext cx="7959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Tecnologia:</a:t>
            </a:r>
            <a:r>
              <a:rPr lang="pt-BR" dirty="0"/>
              <a:t> Power BI conectado ao Data Mart PostgreSQL.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825CBAB-46B2-1F0E-8E91-7CC51123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28" t="22393" r="27692" b="19301"/>
          <a:stretch>
            <a:fillRect/>
          </a:stretch>
        </p:blipFill>
        <p:spPr>
          <a:xfrm>
            <a:off x="2453788" y="2910059"/>
            <a:ext cx="4236424" cy="223344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8" name="Google Shape;23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/>
            <a:r>
              <a:rPr lang="pt-BR"/>
              <a:t>OLIVEIRA, Gláucia M. M. de et al. Estatística Cardiovascular – Brasil 2023. </a:t>
            </a:r>
            <a:r>
              <a:rPr lang="pt-BR" b="1"/>
              <a:t>Arquivos Brasileiros de Cardiologia</a:t>
            </a:r>
            <a:r>
              <a:rPr lang="pt-BR"/>
              <a:t>, v. 121, n. 2, e20240079, 2024. Disponível em: </a:t>
            </a:r>
            <a:r>
              <a:rPr lang="pt-BR">
                <a:hlinkClick r:id="rId3"/>
              </a:rPr>
              <a:t>https://doi.org/10.36660/abc.20240079</a:t>
            </a:r>
            <a:r>
              <a:rPr lang="pt-BR"/>
              <a:t>. Acesso: 18 out 2025.</a:t>
            </a:r>
          </a:p>
          <a:p>
            <a:pPr>
              <a:lnSpc>
                <a:spcPct val="114999"/>
              </a:lnSpc>
            </a:pPr>
            <a:r>
              <a:rPr lang="pt-BR"/>
              <a:t>BRASIL. Ministério da Saúde. Secretaria de Vigilância em Saúde. </a:t>
            </a:r>
            <a:r>
              <a:rPr lang="pt-BR" b="1"/>
              <a:t>SIM - Sistema de Informações sobre Mortalidade</a:t>
            </a:r>
            <a:r>
              <a:rPr lang="pt-BR"/>
              <a:t>. Brasília: Ministério da Saúde. Disponível em: </a:t>
            </a:r>
            <a:r>
              <a:rPr lang="pt-BR">
                <a:hlinkClick r:id="rId4"/>
              </a:rPr>
              <a:t>https://svs.aids.gov.br/daent/centrais-de-conteudos/paineis-de-monitoramento/mortalidade/cid10/</a:t>
            </a:r>
            <a:r>
              <a:rPr lang="pt-BR"/>
              <a:t>. Acesso: 30 set 2025. 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lang="pt-B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Anexos</a:t>
            </a:r>
            <a:endParaRPr/>
          </a:p>
        </p:txBody>
      </p:sp>
      <p:sp>
        <p:nvSpPr>
          <p:cNvPr id="244" name="Google Shape;24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Apêndices</a:t>
            </a:r>
            <a:endParaRPr/>
          </a:p>
        </p:txBody>
      </p:sp>
      <p:sp>
        <p:nvSpPr>
          <p:cNvPr id="250" name="Google Shape;25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Microsoft Office PowerPoint</Application>
  <PresentationFormat>Apresentação na tela (16:9)</PresentationFormat>
  <Paragraphs>261</Paragraphs>
  <Slides>45</Slides>
  <Notes>45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Arial</vt:lpstr>
      <vt:lpstr>Courier New</vt:lpstr>
      <vt:lpstr>Times New Roman</vt:lpstr>
      <vt:lpstr>Wingdings</vt:lpstr>
      <vt:lpstr>Simple Light</vt:lpstr>
      <vt:lpstr>Cárdio_Mart</vt:lpstr>
      <vt:lpstr>ETAPA 1 - PLANEJAMENTO</vt:lpstr>
      <vt:lpstr>Contextualização</vt:lpstr>
      <vt:lpstr>Escopo/objetivo do Data Mart</vt:lpstr>
      <vt:lpstr>Arquitetura Tecnológica</vt:lpstr>
      <vt:lpstr>Processo</vt:lpstr>
      <vt:lpstr>Abordagem</vt:lpstr>
      <vt:lpstr>Usuários</vt:lpstr>
      <vt:lpstr>ETAPA 2 - LEVANTAMENTO DAS NECESSIDADES</vt:lpstr>
      <vt:lpstr>Consultas de Apoio à Decisão  </vt:lpstr>
      <vt:lpstr>Indicadores do &lt;negócio&gt; </vt:lpstr>
      <vt:lpstr>Indicadores do &lt;negócio&gt; </vt:lpstr>
      <vt:lpstr>Indicadores do &lt;negócio&gt; </vt:lpstr>
      <vt:lpstr>Indicadores do &lt;negócio&gt; </vt:lpstr>
      <vt:lpstr>ETAPA 3 - MODELAGEM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Dimensional</vt:lpstr>
      <vt:lpstr>Modelo Dimensional</vt:lpstr>
      <vt:lpstr>Modelo Dimensional</vt:lpstr>
      <vt:lpstr>Modelo Dimensional</vt:lpstr>
      <vt:lpstr>Modelo Dimensional</vt:lpstr>
      <vt:lpstr>Modelo Dimensional</vt:lpstr>
      <vt:lpstr>Modelo Dimensional</vt:lpstr>
      <vt:lpstr>Modelo Dimensional</vt:lpstr>
      <vt:lpstr>Modelo Dimensional do Data Mart (lógico)</vt:lpstr>
      <vt:lpstr>ETAPA 4 - PROJETO FÍSICO DO BD</vt:lpstr>
      <vt:lpstr>Modelo Relacional do Data Mart (físico)</vt:lpstr>
      <vt:lpstr>ETAPA 5 - EXTRAÇÃO, TRANSFORMAÇÃO E CARGA</vt:lpstr>
      <vt:lpstr>Plano de Carga da Dimensão Tempo</vt:lpstr>
      <vt:lpstr>Plano de Carga Tratamento da Staging Area</vt:lpstr>
      <vt:lpstr>Transformação de Atributos (Localidade e Demografia)</vt:lpstr>
      <vt:lpstr>Plano de Carga da Fato</vt:lpstr>
      <vt:lpstr>ETAPA 6 - APLICAÇÃO OLAP e PAINEL DE BORDO</vt:lpstr>
      <vt:lpstr>Consulta OLAP 1</vt:lpstr>
      <vt:lpstr>Consulta OLAP 2</vt:lpstr>
      <vt:lpstr>Consulta OLAP 3</vt:lpstr>
      <vt:lpstr>Painel de Bordo XXXX (ponto extra)</vt:lpstr>
      <vt:lpstr>Referências</vt:lpstr>
      <vt:lpstr>Anexos</vt:lpstr>
      <vt:lpstr>Apêndices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Sousa</cp:lastModifiedBy>
  <cp:revision>3</cp:revision>
  <dcterms:modified xsi:type="dcterms:W3CDTF">2025-12-01T21:31:12Z</dcterms:modified>
</cp:coreProperties>
</file>